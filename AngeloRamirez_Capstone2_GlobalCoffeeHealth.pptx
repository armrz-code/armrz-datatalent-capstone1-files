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4"/>
  </p:sldMasterIdLst>
  <p:notesMasterIdLst>
    <p:notesMasterId r:id="rId23"/>
  </p:notesMasterIdLst>
  <p:handoutMasterIdLst>
    <p:handoutMasterId r:id="rId24"/>
  </p:handoutMasterIdLst>
  <p:sldIdLst>
    <p:sldId id="264" r:id="rId5"/>
    <p:sldId id="268" r:id="rId6"/>
    <p:sldId id="271" r:id="rId7"/>
    <p:sldId id="270" r:id="rId8"/>
    <p:sldId id="283" r:id="rId9"/>
    <p:sldId id="279" r:id="rId10"/>
    <p:sldId id="280" r:id="rId11"/>
    <p:sldId id="284" r:id="rId12"/>
    <p:sldId id="285" r:id="rId13"/>
    <p:sldId id="287" r:id="rId14"/>
    <p:sldId id="288" r:id="rId15"/>
    <p:sldId id="289" r:id="rId16"/>
    <p:sldId id="286" r:id="rId17"/>
    <p:sldId id="290" r:id="rId18"/>
    <p:sldId id="273" r:id="rId19"/>
    <p:sldId id="293" r:id="rId20"/>
    <p:sldId id="292" r:id="rId21"/>
    <p:sldId id="29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A7"/>
    <a:srgbClr val="FF6400"/>
    <a:srgbClr val="FF7600"/>
    <a:srgbClr val="C476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1B4A09-D1EF-43E1-A709-AB0B3FEFC1B7}" v="4" dt="2025-11-16T01:42:20.505"/>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33" autoAdjust="0"/>
    <p:restoredTop sz="79903" autoAdjust="0"/>
  </p:normalViewPr>
  <p:slideViewPr>
    <p:cSldViewPr snapToGrid="0">
      <p:cViewPr varScale="1">
        <p:scale>
          <a:sx n="88" d="100"/>
          <a:sy n="88" d="100"/>
        </p:scale>
        <p:origin x="1128" y="90"/>
      </p:cViewPr>
      <p:guideLst/>
    </p:cSldViewPr>
  </p:slideViewPr>
  <p:notesTextViewPr>
    <p:cViewPr>
      <p:scale>
        <a:sx n="133" d="100"/>
        <a:sy n="133" d="100"/>
      </p:scale>
      <p:origin x="-12" y="-24"/>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lo Ramirez" userId="46f3d766976fe57d" providerId="LiveId" clId="{9887C303-7024-43F5-BEDE-3A9E9B300ED2}"/>
    <pc:docChg chg="undo custSel addSld delSld modSld sldOrd">
      <pc:chgData name="Jelo Ramirez" userId="46f3d766976fe57d" providerId="LiveId" clId="{9887C303-7024-43F5-BEDE-3A9E9B300ED2}" dt="2025-11-16T02:52:49.374" v="23904" actId="20577"/>
      <pc:docMkLst>
        <pc:docMk/>
      </pc:docMkLst>
      <pc:sldChg chg="modSp mod modNotesTx">
        <pc:chgData name="Jelo Ramirez" userId="46f3d766976fe57d" providerId="LiveId" clId="{9887C303-7024-43F5-BEDE-3A9E9B300ED2}" dt="2025-11-16T01:21:34.009" v="22220" actId="20577"/>
        <pc:sldMkLst>
          <pc:docMk/>
          <pc:sldMk cId="2941852940" sldId="264"/>
        </pc:sldMkLst>
        <pc:spChg chg="mod">
          <ac:chgData name="Jelo Ramirez" userId="46f3d766976fe57d" providerId="LiveId" clId="{9887C303-7024-43F5-BEDE-3A9E9B300ED2}" dt="2025-11-07T22:24:22.473" v="21420" actId="20577"/>
          <ac:spMkLst>
            <pc:docMk/>
            <pc:sldMk cId="2941852940" sldId="264"/>
            <ac:spMk id="2" creationId="{0D1F047C-C727-42A7-85C5-68C5AA1B1A93}"/>
          </ac:spMkLst>
        </pc:spChg>
        <pc:spChg chg="mod">
          <ac:chgData name="Jelo Ramirez" userId="46f3d766976fe57d" providerId="LiveId" clId="{9887C303-7024-43F5-BEDE-3A9E9B300ED2}" dt="2025-11-07T21:50:02.350" v="21390" actId="20577"/>
          <ac:spMkLst>
            <pc:docMk/>
            <pc:sldMk cId="2941852940" sldId="264"/>
            <ac:spMk id="3" creationId="{DB93FB3F-A8D4-46D3-A1C6-C79C64563729}"/>
          </ac:spMkLst>
        </pc:spChg>
      </pc:sldChg>
      <pc:sldChg chg="modSp mod modNotesTx">
        <pc:chgData name="Jelo Ramirez" userId="46f3d766976fe57d" providerId="LiveId" clId="{9887C303-7024-43F5-BEDE-3A9E9B300ED2}" dt="2025-11-07T22:29:13.467" v="21532" actId="20577"/>
        <pc:sldMkLst>
          <pc:docMk/>
          <pc:sldMk cId="4137732831" sldId="268"/>
        </pc:sldMkLst>
        <pc:spChg chg="mod">
          <ac:chgData name="Jelo Ramirez" userId="46f3d766976fe57d" providerId="LiveId" clId="{9887C303-7024-43F5-BEDE-3A9E9B300ED2}" dt="2025-11-07T21:50:38.995" v="21392" actId="20577"/>
          <ac:spMkLst>
            <pc:docMk/>
            <pc:sldMk cId="4137732831" sldId="268"/>
            <ac:spMk id="3" creationId="{74E6C9CE-1BEC-CECC-FB7A-3BF4D7F9E186}"/>
          </ac:spMkLst>
        </pc:spChg>
      </pc:sldChg>
      <pc:sldChg chg="modSp mod modNotesTx">
        <pc:chgData name="Jelo Ramirez" userId="46f3d766976fe57d" providerId="LiveId" clId="{9887C303-7024-43F5-BEDE-3A9E9B300ED2}" dt="2025-11-16T01:25:35.579" v="22292" actId="20577"/>
        <pc:sldMkLst>
          <pc:docMk/>
          <pc:sldMk cId="3479647103" sldId="270"/>
        </pc:sldMkLst>
        <pc:graphicFrameChg chg="modGraphic">
          <ac:chgData name="Jelo Ramirez" userId="46f3d766976fe57d" providerId="LiveId" clId="{9887C303-7024-43F5-BEDE-3A9E9B300ED2}" dt="2025-11-16T01:25:16.298" v="22280" actId="207"/>
          <ac:graphicFrameMkLst>
            <pc:docMk/>
            <pc:sldMk cId="3479647103" sldId="270"/>
            <ac:graphicFrameMk id="3" creationId="{C4B263CD-C88F-D8B2-4B26-1B10CC881774}"/>
          </ac:graphicFrameMkLst>
        </pc:graphicFrameChg>
        <pc:graphicFrameChg chg="modGraphic">
          <ac:chgData name="Jelo Ramirez" userId="46f3d766976fe57d" providerId="LiveId" clId="{9887C303-7024-43F5-BEDE-3A9E9B300ED2}" dt="2025-11-16T01:25:23.638" v="22281" actId="207"/>
          <ac:graphicFrameMkLst>
            <pc:docMk/>
            <pc:sldMk cId="3479647103" sldId="270"/>
            <ac:graphicFrameMk id="5" creationId="{2227308B-50AC-67E2-ABAC-04FCFDC85918}"/>
          </ac:graphicFrameMkLst>
        </pc:graphicFrameChg>
      </pc:sldChg>
      <pc:sldChg chg="modNotesTx">
        <pc:chgData name="Jelo Ramirez" userId="46f3d766976fe57d" providerId="LiveId" clId="{9887C303-7024-43F5-BEDE-3A9E9B300ED2}" dt="2025-11-16T01:23:00.987" v="22267" actId="20577"/>
        <pc:sldMkLst>
          <pc:docMk/>
          <pc:sldMk cId="1446402392" sldId="271"/>
        </pc:sldMkLst>
      </pc:sldChg>
      <pc:sldChg chg="modSp mod ord modNotesTx">
        <pc:chgData name="Jelo Ramirez" userId="46f3d766976fe57d" providerId="LiveId" clId="{9887C303-7024-43F5-BEDE-3A9E9B300ED2}" dt="2025-11-16T01:31:08.029" v="22707" actId="20577"/>
        <pc:sldMkLst>
          <pc:docMk/>
          <pc:sldMk cId="2129093383" sldId="279"/>
        </pc:sldMkLst>
        <pc:spChg chg="mod">
          <ac:chgData name="Jelo Ramirez" userId="46f3d766976fe57d" providerId="LiveId" clId="{9887C303-7024-43F5-BEDE-3A9E9B300ED2}" dt="2025-11-07T22:26:33.449" v="21474" actId="403"/>
          <ac:spMkLst>
            <pc:docMk/>
            <pc:sldMk cId="2129093383" sldId="279"/>
            <ac:spMk id="2" creationId="{83067FE6-3491-93DA-F4F2-C940691A1C9A}"/>
          </ac:spMkLst>
        </pc:spChg>
        <pc:spChg chg="mod">
          <ac:chgData name="Jelo Ramirez" userId="46f3d766976fe57d" providerId="LiveId" clId="{9887C303-7024-43F5-BEDE-3A9E9B300ED2}" dt="2025-11-07T22:27:29.897" v="21477" actId="20577"/>
          <ac:spMkLst>
            <pc:docMk/>
            <pc:sldMk cId="2129093383" sldId="279"/>
            <ac:spMk id="8" creationId="{D76F7512-F940-7438-C280-C2846D944D7F}"/>
          </ac:spMkLst>
        </pc:spChg>
      </pc:sldChg>
      <pc:sldChg chg="modNotesTx">
        <pc:chgData name="Jelo Ramirez" userId="46f3d766976fe57d" providerId="LiveId" clId="{9887C303-7024-43F5-BEDE-3A9E9B300ED2}" dt="2025-11-16T01:31:44.710" v="22762" actId="5793"/>
        <pc:sldMkLst>
          <pc:docMk/>
          <pc:sldMk cId="1814217965" sldId="280"/>
        </pc:sldMkLst>
      </pc:sldChg>
      <pc:sldChg chg="modSp mod ord modNotesTx">
        <pc:chgData name="Jelo Ramirez" userId="46f3d766976fe57d" providerId="LiveId" clId="{9887C303-7024-43F5-BEDE-3A9E9B300ED2}" dt="2025-11-16T01:29:36.339" v="22575" actId="20577"/>
        <pc:sldMkLst>
          <pc:docMk/>
          <pc:sldMk cId="55148828" sldId="283"/>
        </pc:sldMkLst>
        <pc:spChg chg="mod">
          <ac:chgData name="Jelo Ramirez" userId="46f3d766976fe57d" providerId="LiveId" clId="{9887C303-7024-43F5-BEDE-3A9E9B300ED2}" dt="2025-11-07T22:36:27.365" v="21927" actId="20577"/>
          <ac:spMkLst>
            <pc:docMk/>
            <pc:sldMk cId="55148828" sldId="283"/>
            <ac:spMk id="8" creationId="{EB2DEBF9-2E4F-26CA-A035-79AF83BFB540}"/>
          </ac:spMkLst>
        </pc:spChg>
      </pc:sldChg>
      <pc:sldChg chg="modNotesTx">
        <pc:chgData name="Jelo Ramirez" userId="46f3d766976fe57d" providerId="LiveId" clId="{9887C303-7024-43F5-BEDE-3A9E9B300ED2}" dt="2025-11-16T02:52:49.374" v="23904" actId="20577"/>
        <pc:sldMkLst>
          <pc:docMk/>
          <pc:sldMk cId="2204687840" sldId="284"/>
        </pc:sldMkLst>
      </pc:sldChg>
      <pc:sldChg chg="modNotesTx">
        <pc:chgData name="Jelo Ramirez" userId="46f3d766976fe57d" providerId="LiveId" clId="{9887C303-7024-43F5-BEDE-3A9E9B300ED2}" dt="2025-11-07T22:41:47.724" v="22106" actId="20577"/>
        <pc:sldMkLst>
          <pc:docMk/>
          <pc:sldMk cId="3721457289" sldId="285"/>
        </pc:sldMkLst>
      </pc:sldChg>
      <pc:sldChg chg="modNotesTx">
        <pc:chgData name="Jelo Ramirez" userId="46f3d766976fe57d" providerId="LiveId" clId="{9887C303-7024-43F5-BEDE-3A9E9B300ED2}" dt="2025-11-16T01:52:59.002" v="23593" actId="20577"/>
        <pc:sldMkLst>
          <pc:docMk/>
          <pc:sldMk cId="2708176997" sldId="286"/>
        </pc:sldMkLst>
      </pc:sldChg>
      <pc:sldChg chg="modSp mod modNotesTx">
        <pc:chgData name="Jelo Ramirez" userId="46f3d766976fe57d" providerId="LiveId" clId="{9887C303-7024-43F5-BEDE-3A9E9B300ED2}" dt="2025-11-16T01:46:27.542" v="22942" actId="20577"/>
        <pc:sldMkLst>
          <pc:docMk/>
          <pc:sldMk cId="1609259737" sldId="289"/>
        </pc:sldMkLst>
        <pc:spChg chg="mod">
          <ac:chgData name="Jelo Ramirez" userId="46f3d766976fe57d" providerId="LiveId" clId="{9887C303-7024-43F5-BEDE-3A9E9B300ED2}" dt="2025-11-16T01:46:21.317" v="22941" actId="313"/>
          <ac:spMkLst>
            <pc:docMk/>
            <pc:sldMk cId="1609259737" sldId="289"/>
            <ac:spMk id="4" creationId="{60F4B2F6-F03F-A276-7822-48F75D9183DF}"/>
          </ac:spMkLst>
        </pc:spChg>
        <pc:picChg chg="mod">
          <ac:chgData name="Jelo Ramirez" userId="46f3d766976fe57d" providerId="LiveId" clId="{9887C303-7024-43F5-BEDE-3A9E9B300ED2}" dt="2025-11-16T01:42:18.350" v="22788" actId="1076"/>
          <ac:picMkLst>
            <pc:docMk/>
            <pc:sldMk cId="1609259737" sldId="289"/>
            <ac:picMk id="5" creationId="{F1E98233-BC3C-8C34-04B5-EEC559F40BAD}"/>
          </ac:picMkLst>
        </pc:picChg>
      </pc:sldChg>
      <pc:sldChg chg="modNotesTx">
        <pc:chgData name="Jelo Ramirez" userId="46f3d766976fe57d" providerId="LiveId" clId="{9887C303-7024-43F5-BEDE-3A9E9B300ED2}" dt="2025-11-16T01:53:51.907" v="23639" actId="20577"/>
        <pc:sldMkLst>
          <pc:docMk/>
          <pc:sldMk cId="1566325100" sldId="290"/>
        </pc:sldMkLst>
      </pc:sldChg>
      <pc:sldChg chg="modNotesTx">
        <pc:chgData name="Jelo Ramirez" userId="46f3d766976fe57d" providerId="LiveId" clId="{9887C303-7024-43F5-BEDE-3A9E9B300ED2}" dt="2025-11-07T22:49:08.039" v="22217" actId="20577"/>
        <pc:sldMkLst>
          <pc:docMk/>
          <pc:sldMk cId="1130577552" sldId="291"/>
        </pc:sldMkLst>
      </pc:sldChg>
      <pc:sldChg chg="modSp mod modNotesTx">
        <pc:chgData name="Jelo Ramirez" userId="46f3d766976fe57d" providerId="LiveId" clId="{9887C303-7024-43F5-BEDE-3A9E9B300ED2}" dt="2025-11-07T22:48:36.439" v="22210" actId="20577"/>
        <pc:sldMkLst>
          <pc:docMk/>
          <pc:sldMk cId="4057640234" sldId="292"/>
        </pc:sldMkLst>
        <pc:spChg chg="mod">
          <ac:chgData name="Jelo Ramirez" userId="46f3d766976fe57d" providerId="LiveId" clId="{9887C303-7024-43F5-BEDE-3A9E9B300ED2}" dt="2025-11-07T22:47:01.821" v="22111" actId="20577"/>
          <ac:spMkLst>
            <pc:docMk/>
            <pc:sldMk cId="4057640234" sldId="292"/>
            <ac:spMk id="8" creationId="{9BBDDBE1-00CD-4A90-9BA9-5E79F6C6FDE0}"/>
          </ac:spMkLst>
        </pc:spChg>
      </pc:sldChg>
      <pc:sldChg chg="modSp mod modNotesTx">
        <pc:chgData name="Jelo Ramirez" userId="46f3d766976fe57d" providerId="LiveId" clId="{9887C303-7024-43F5-BEDE-3A9E9B300ED2}" dt="2025-11-07T22:47:57.467" v="22150" actId="20577"/>
        <pc:sldMkLst>
          <pc:docMk/>
          <pc:sldMk cId="1605274694" sldId="293"/>
        </pc:sldMkLst>
        <pc:spChg chg="mod">
          <ac:chgData name="Jelo Ramirez" userId="46f3d766976fe57d" providerId="LiveId" clId="{9887C303-7024-43F5-BEDE-3A9E9B300ED2}" dt="2025-11-07T22:45:41.593" v="22110" actId="403"/>
          <ac:spMkLst>
            <pc:docMk/>
            <pc:sldMk cId="1605274694" sldId="293"/>
            <ac:spMk id="4" creationId="{124DB99C-14A3-9602-5A90-B5B2C373BB6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886C68-123C-4358-890F-08094B9C6490}" type="doc">
      <dgm:prSet loTypeId="urn:microsoft.com/office/officeart/2005/8/layout/process1" loCatId="process" qsTypeId="urn:microsoft.com/office/officeart/2005/8/quickstyle/simple1" qsCatId="simple" csTypeId="urn:microsoft.com/office/officeart/2005/8/colors/accent1_2" csCatId="accent1" phldr="1"/>
      <dgm:spPr/>
    </dgm:pt>
    <dgm:pt modelId="{AA9D789E-CB3E-47E9-8BCA-877B30F4C0CD}">
      <dgm:prSet phldrT="[Text]"/>
      <dgm:spPr/>
      <dgm:t>
        <a:bodyPr/>
        <a:lstStyle/>
        <a:p>
          <a:r>
            <a:rPr lang="en-CA" dirty="0"/>
            <a:t>Create a function that will return the Age Group based on the Age</a:t>
          </a:r>
        </a:p>
      </dgm:t>
    </dgm:pt>
    <dgm:pt modelId="{195D5285-4539-4998-87CA-EC2496FA7D02}" type="parTrans" cxnId="{8D6AF256-FFF5-4D90-84DD-CA3BBC20F262}">
      <dgm:prSet/>
      <dgm:spPr/>
      <dgm:t>
        <a:bodyPr/>
        <a:lstStyle/>
        <a:p>
          <a:endParaRPr lang="en-CA"/>
        </a:p>
      </dgm:t>
    </dgm:pt>
    <dgm:pt modelId="{B401C27F-795A-4DB5-912B-974FFE4B6EAF}" type="sibTrans" cxnId="{8D6AF256-FFF5-4D90-84DD-CA3BBC20F262}">
      <dgm:prSet/>
      <dgm:spPr/>
      <dgm:t>
        <a:bodyPr/>
        <a:lstStyle/>
        <a:p>
          <a:endParaRPr lang="en-CA"/>
        </a:p>
      </dgm:t>
    </dgm:pt>
    <dgm:pt modelId="{9EA0C57B-314F-4CE6-86CC-80D7A3E4B0EC}">
      <dgm:prSet phldrT="[Text]"/>
      <dgm:spPr/>
      <dgm:t>
        <a:bodyPr/>
        <a:lstStyle/>
        <a:p>
          <a:r>
            <a:rPr lang="en-CA" dirty="0"/>
            <a:t>Apply the function to the Age column in the data frame</a:t>
          </a:r>
        </a:p>
      </dgm:t>
    </dgm:pt>
    <dgm:pt modelId="{FC76406A-5EAF-4610-BD6D-FB42DA53F567}" type="parTrans" cxnId="{7999D52F-F6AB-492C-ABBB-D202581715DC}">
      <dgm:prSet/>
      <dgm:spPr/>
      <dgm:t>
        <a:bodyPr/>
        <a:lstStyle/>
        <a:p>
          <a:endParaRPr lang="en-CA"/>
        </a:p>
      </dgm:t>
    </dgm:pt>
    <dgm:pt modelId="{AD6FCB76-CDA9-4610-949E-DF965A2F41CB}" type="sibTrans" cxnId="{7999D52F-F6AB-492C-ABBB-D202581715DC}">
      <dgm:prSet/>
      <dgm:spPr/>
      <dgm:t>
        <a:bodyPr/>
        <a:lstStyle/>
        <a:p>
          <a:endParaRPr lang="en-CA"/>
        </a:p>
      </dgm:t>
    </dgm:pt>
    <dgm:pt modelId="{249AEB74-D778-4E1E-84A6-B0864F83CB3B}">
      <dgm:prSet phldrT="[Text]"/>
      <dgm:spPr/>
      <dgm:t>
        <a:bodyPr/>
        <a:lstStyle/>
        <a:p>
          <a:r>
            <a:rPr lang="en-CA" dirty="0"/>
            <a:t>Assign the result to a new data frame column named Age Group</a:t>
          </a:r>
        </a:p>
      </dgm:t>
    </dgm:pt>
    <dgm:pt modelId="{8DAB9706-D5B1-4695-978D-6132F097B308}" type="parTrans" cxnId="{DC74F1DF-6F34-418E-9FA6-81CD447C1375}">
      <dgm:prSet/>
      <dgm:spPr/>
      <dgm:t>
        <a:bodyPr/>
        <a:lstStyle/>
        <a:p>
          <a:endParaRPr lang="en-CA"/>
        </a:p>
      </dgm:t>
    </dgm:pt>
    <dgm:pt modelId="{B9E1969C-5C9E-42EA-A2F4-308E9B4308DC}" type="sibTrans" cxnId="{DC74F1DF-6F34-418E-9FA6-81CD447C1375}">
      <dgm:prSet/>
      <dgm:spPr/>
      <dgm:t>
        <a:bodyPr/>
        <a:lstStyle/>
        <a:p>
          <a:endParaRPr lang="en-CA"/>
        </a:p>
      </dgm:t>
    </dgm:pt>
    <dgm:pt modelId="{0BC534EE-040C-469C-9D34-B7202EDBD38B}" type="pres">
      <dgm:prSet presAssocID="{59886C68-123C-4358-890F-08094B9C6490}" presName="Name0" presStyleCnt="0">
        <dgm:presLayoutVars>
          <dgm:dir/>
          <dgm:resizeHandles val="exact"/>
        </dgm:presLayoutVars>
      </dgm:prSet>
      <dgm:spPr/>
    </dgm:pt>
    <dgm:pt modelId="{DC0882D9-44AD-497C-B748-7EADAFE23F1B}" type="pres">
      <dgm:prSet presAssocID="{AA9D789E-CB3E-47E9-8BCA-877B30F4C0CD}" presName="node" presStyleLbl="node1" presStyleIdx="0" presStyleCnt="3">
        <dgm:presLayoutVars>
          <dgm:bulletEnabled val="1"/>
        </dgm:presLayoutVars>
      </dgm:prSet>
      <dgm:spPr/>
    </dgm:pt>
    <dgm:pt modelId="{5F151930-62A9-4A40-BE91-58B20E4BA8DD}" type="pres">
      <dgm:prSet presAssocID="{B401C27F-795A-4DB5-912B-974FFE4B6EAF}" presName="sibTrans" presStyleLbl="sibTrans2D1" presStyleIdx="0" presStyleCnt="2"/>
      <dgm:spPr/>
    </dgm:pt>
    <dgm:pt modelId="{F1EB8F50-DE26-4206-9BDE-5BE5764FCC18}" type="pres">
      <dgm:prSet presAssocID="{B401C27F-795A-4DB5-912B-974FFE4B6EAF}" presName="connectorText" presStyleLbl="sibTrans2D1" presStyleIdx="0" presStyleCnt="2"/>
      <dgm:spPr/>
    </dgm:pt>
    <dgm:pt modelId="{FBA8F4D9-D17D-41E2-AFE7-833E6EFA7871}" type="pres">
      <dgm:prSet presAssocID="{9EA0C57B-314F-4CE6-86CC-80D7A3E4B0EC}" presName="node" presStyleLbl="node1" presStyleIdx="1" presStyleCnt="3">
        <dgm:presLayoutVars>
          <dgm:bulletEnabled val="1"/>
        </dgm:presLayoutVars>
      </dgm:prSet>
      <dgm:spPr/>
    </dgm:pt>
    <dgm:pt modelId="{1F632FDB-2CAD-4D31-B2E7-7642D87D6BDE}" type="pres">
      <dgm:prSet presAssocID="{AD6FCB76-CDA9-4610-949E-DF965A2F41CB}" presName="sibTrans" presStyleLbl="sibTrans2D1" presStyleIdx="1" presStyleCnt="2"/>
      <dgm:spPr/>
    </dgm:pt>
    <dgm:pt modelId="{4F62F0BA-9D06-4E24-880A-741211F8B6A2}" type="pres">
      <dgm:prSet presAssocID="{AD6FCB76-CDA9-4610-949E-DF965A2F41CB}" presName="connectorText" presStyleLbl="sibTrans2D1" presStyleIdx="1" presStyleCnt="2"/>
      <dgm:spPr/>
    </dgm:pt>
    <dgm:pt modelId="{30E211C9-65A4-4FC3-9362-35874B66CE4B}" type="pres">
      <dgm:prSet presAssocID="{249AEB74-D778-4E1E-84A6-B0864F83CB3B}" presName="node" presStyleLbl="node1" presStyleIdx="2" presStyleCnt="3">
        <dgm:presLayoutVars>
          <dgm:bulletEnabled val="1"/>
        </dgm:presLayoutVars>
      </dgm:prSet>
      <dgm:spPr/>
    </dgm:pt>
  </dgm:ptLst>
  <dgm:cxnLst>
    <dgm:cxn modelId="{305B0412-D480-4CCB-B418-EE6C4037E9B4}" type="presOf" srcId="{B401C27F-795A-4DB5-912B-974FFE4B6EAF}" destId="{5F151930-62A9-4A40-BE91-58B20E4BA8DD}" srcOrd="0" destOrd="0" presId="urn:microsoft.com/office/officeart/2005/8/layout/process1"/>
    <dgm:cxn modelId="{7999D52F-F6AB-492C-ABBB-D202581715DC}" srcId="{59886C68-123C-4358-890F-08094B9C6490}" destId="{9EA0C57B-314F-4CE6-86CC-80D7A3E4B0EC}" srcOrd="1" destOrd="0" parTransId="{FC76406A-5EAF-4610-BD6D-FB42DA53F567}" sibTransId="{AD6FCB76-CDA9-4610-949E-DF965A2F41CB}"/>
    <dgm:cxn modelId="{8D6AF256-FFF5-4D90-84DD-CA3BBC20F262}" srcId="{59886C68-123C-4358-890F-08094B9C6490}" destId="{AA9D789E-CB3E-47E9-8BCA-877B30F4C0CD}" srcOrd="0" destOrd="0" parTransId="{195D5285-4539-4998-87CA-EC2496FA7D02}" sibTransId="{B401C27F-795A-4DB5-912B-974FFE4B6EAF}"/>
    <dgm:cxn modelId="{C6811180-6204-4818-B81F-82A7B23E5C42}" type="presOf" srcId="{59886C68-123C-4358-890F-08094B9C6490}" destId="{0BC534EE-040C-469C-9D34-B7202EDBD38B}" srcOrd="0" destOrd="0" presId="urn:microsoft.com/office/officeart/2005/8/layout/process1"/>
    <dgm:cxn modelId="{8A3FF884-CA44-414D-ABEF-967685D23B55}" type="presOf" srcId="{9EA0C57B-314F-4CE6-86CC-80D7A3E4B0EC}" destId="{FBA8F4D9-D17D-41E2-AFE7-833E6EFA7871}" srcOrd="0" destOrd="0" presId="urn:microsoft.com/office/officeart/2005/8/layout/process1"/>
    <dgm:cxn modelId="{BBD63C98-74BA-46B8-840A-D0972BF547B6}" type="presOf" srcId="{AA9D789E-CB3E-47E9-8BCA-877B30F4C0CD}" destId="{DC0882D9-44AD-497C-B748-7EADAFE23F1B}" srcOrd="0" destOrd="0" presId="urn:microsoft.com/office/officeart/2005/8/layout/process1"/>
    <dgm:cxn modelId="{CE4D27AF-4B02-4DAA-87ED-6FCCFBB66DDD}" type="presOf" srcId="{AD6FCB76-CDA9-4610-949E-DF965A2F41CB}" destId="{4F62F0BA-9D06-4E24-880A-741211F8B6A2}" srcOrd="1" destOrd="0" presId="urn:microsoft.com/office/officeart/2005/8/layout/process1"/>
    <dgm:cxn modelId="{DC74F1DF-6F34-418E-9FA6-81CD447C1375}" srcId="{59886C68-123C-4358-890F-08094B9C6490}" destId="{249AEB74-D778-4E1E-84A6-B0864F83CB3B}" srcOrd="2" destOrd="0" parTransId="{8DAB9706-D5B1-4695-978D-6132F097B308}" sibTransId="{B9E1969C-5C9E-42EA-A2F4-308E9B4308DC}"/>
    <dgm:cxn modelId="{A1F09AE8-4CA6-42C1-AC4F-DE1E1FD599C4}" type="presOf" srcId="{B401C27F-795A-4DB5-912B-974FFE4B6EAF}" destId="{F1EB8F50-DE26-4206-9BDE-5BE5764FCC18}" srcOrd="1" destOrd="0" presId="urn:microsoft.com/office/officeart/2005/8/layout/process1"/>
    <dgm:cxn modelId="{1624A9EF-D048-430D-9432-DED889211E25}" type="presOf" srcId="{AD6FCB76-CDA9-4610-949E-DF965A2F41CB}" destId="{1F632FDB-2CAD-4D31-B2E7-7642D87D6BDE}" srcOrd="0" destOrd="0" presId="urn:microsoft.com/office/officeart/2005/8/layout/process1"/>
    <dgm:cxn modelId="{7AE71BF4-CC9D-4C6B-8A03-726F60897C63}" type="presOf" srcId="{249AEB74-D778-4E1E-84A6-B0864F83CB3B}" destId="{30E211C9-65A4-4FC3-9362-35874B66CE4B}" srcOrd="0" destOrd="0" presId="urn:microsoft.com/office/officeart/2005/8/layout/process1"/>
    <dgm:cxn modelId="{0BF04D4B-6657-4203-A978-549B97EA0FC7}" type="presParOf" srcId="{0BC534EE-040C-469C-9D34-B7202EDBD38B}" destId="{DC0882D9-44AD-497C-B748-7EADAFE23F1B}" srcOrd="0" destOrd="0" presId="urn:microsoft.com/office/officeart/2005/8/layout/process1"/>
    <dgm:cxn modelId="{F78C270D-1B66-4A30-908E-EDD3254B9CF3}" type="presParOf" srcId="{0BC534EE-040C-469C-9D34-B7202EDBD38B}" destId="{5F151930-62A9-4A40-BE91-58B20E4BA8DD}" srcOrd="1" destOrd="0" presId="urn:microsoft.com/office/officeart/2005/8/layout/process1"/>
    <dgm:cxn modelId="{F9A9F433-EB78-4EF5-A593-8B126DAF29F5}" type="presParOf" srcId="{5F151930-62A9-4A40-BE91-58B20E4BA8DD}" destId="{F1EB8F50-DE26-4206-9BDE-5BE5764FCC18}" srcOrd="0" destOrd="0" presId="urn:microsoft.com/office/officeart/2005/8/layout/process1"/>
    <dgm:cxn modelId="{69BF3567-809C-43D8-9047-425706AB9084}" type="presParOf" srcId="{0BC534EE-040C-469C-9D34-B7202EDBD38B}" destId="{FBA8F4D9-D17D-41E2-AFE7-833E6EFA7871}" srcOrd="2" destOrd="0" presId="urn:microsoft.com/office/officeart/2005/8/layout/process1"/>
    <dgm:cxn modelId="{12E52F42-6843-4FA8-9751-83D64D7DC721}" type="presParOf" srcId="{0BC534EE-040C-469C-9D34-B7202EDBD38B}" destId="{1F632FDB-2CAD-4D31-B2E7-7642D87D6BDE}" srcOrd="3" destOrd="0" presId="urn:microsoft.com/office/officeart/2005/8/layout/process1"/>
    <dgm:cxn modelId="{4E1DC772-0F48-43FC-9D35-26DF49EC8C2E}" type="presParOf" srcId="{1F632FDB-2CAD-4D31-B2E7-7642D87D6BDE}" destId="{4F62F0BA-9D06-4E24-880A-741211F8B6A2}" srcOrd="0" destOrd="0" presId="urn:microsoft.com/office/officeart/2005/8/layout/process1"/>
    <dgm:cxn modelId="{0E5DF02A-0BCA-445A-85D6-F016BDD56DEF}" type="presParOf" srcId="{0BC534EE-040C-469C-9D34-B7202EDBD38B}" destId="{30E211C9-65A4-4FC3-9362-35874B66CE4B}"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2166FC-C673-40E2-9C7F-18C1D849F35F}" type="doc">
      <dgm:prSet loTypeId="urn:microsoft.com/office/officeart/2016/7/layout/RepeatingBendingProcessNew" loCatId="process" qsTypeId="urn:microsoft.com/office/officeart/2005/8/quickstyle/simple1" qsCatId="simple" csTypeId="urn:microsoft.com/office/officeart/2005/8/colors/colorful3" csCatId="colorful" phldr="1"/>
      <dgm:spPr/>
    </dgm:pt>
    <dgm:pt modelId="{87457798-AE95-4FC0-A3D4-D2D1E2510EC2}">
      <dgm:prSet phldrT="[Text]"/>
      <dgm:spPr/>
      <dgm:t>
        <a:bodyPr/>
        <a:lstStyle/>
        <a:p>
          <a:r>
            <a:rPr lang="en-CA"/>
            <a:t>Import the world map JSON file to GeoJSON data source object</a:t>
          </a:r>
        </a:p>
      </dgm:t>
    </dgm:pt>
    <dgm:pt modelId="{3DE55FC3-1A98-4217-8C5B-99BE8CA04A22}" type="parTrans" cxnId="{DE6AF6F8-8E02-4406-8DB9-67DC923BBC7F}">
      <dgm:prSet/>
      <dgm:spPr/>
      <dgm:t>
        <a:bodyPr/>
        <a:lstStyle/>
        <a:p>
          <a:endParaRPr lang="en-CA" sz="2000"/>
        </a:p>
      </dgm:t>
    </dgm:pt>
    <dgm:pt modelId="{26C8978B-211D-46D3-ACEF-D0CEFF0646AF}" type="sibTrans" cxnId="{DE6AF6F8-8E02-4406-8DB9-67DC923BBC7F}">
      <dgm:prSet/>
      <dgm:spPr/>
      <dgm:t>
        <a:bodyPr/>
        <a:lstStyle/>
        <a:p>
          <a:endParaRPr lang="en-CA"/>
        </a:p>
      </dgm:t>
    </dgm:pt>
    <dgm:pt modelId="{FEFFC478-2D13-4A96-A826-5827FD0D6D67}">
      <dgm:prSet phldrT="[Text]"/>
      <dgm:spPr/>
      <dgm:t>
        <a:bodyPr/>
        <a:lstStyle/>
        <a:p>
          <a:r>
            <a:rPr lang="en-CA"/>
            <a:t>Prepare the Data. Rename USA and UK to their full name</a:t>
          </a:r>
        </a:p>
      </dgm:t>
    </dgm:pt>
    <dgm:pt modelId="{85191E7C-BC2C-4089-914C-71C0F0BAD82E}" type="parTrans" cxnId="{6AA9AB8A-30D3-4121-97D3-037BD8B8DA6A}">
      <dgm:prSet/>
      <dgm:spPr/>
      <dgm:t>
        <a:bodyPr/>
        <a:lstStyle/>
        <a:p>
          <a:endParaRPr lang="en-CA" sz="2000"/>
        </a:p>
      </dgm:t>
    </dgm:pt>
    <dgm:pt modelId="{3D09E437-6105-4065-94F6-AA586C92E54F}" type="sibTrans" cxnId="{6AA9AB8A-30D3-4121-97D3-037BD8B8DA6A}">
      <dgm:prSet/>
      <dgm:spPr/>
      <dgm:t>
        <a:bodyPr/>
        <a:lstStyle/>
        <a:p>
          <a:endParaRPr lang="en-CA"/>
        </a:p>
      </dgm:t>
    </dgm:pt>
    <dgm:pt modelId="{18BA737B-C600-494D-B56C-76A93CCAB19E}">
      <dgm:prSet phldrT="[Text]"/>
      <dgm:spPr/>
      <dgm:t>
        <a:bodyPr/>
        <a:lstStyle/>
        <a:p>
          <a:r>
            <a:rPr lang="en-CA" dirty="0"/>
            <a:t>Using the group object, get the mean of the </a:t>
          </a:r>
          <a:r>
            <a:rPr lang="en-CA" dirty="0" err="1"/>
            <a:t>Caffeine_mg</a:t>
          </a:r>
          <a:r>
            <a:rPr lang="en-CA" dirty="0"/>
            <a:t> column in ascending order</a:t>
          </a:r>
        </a:p>
      </dgm:t>
    </dgm:pt>
    <dgm:pt modelId="{69F3A809-50C0-4498-A2E5-3681DACD8F11}" type="parTrans" cxnId="{0BF011DE-B5A2-4311-97EA-2469BFA329FF}">
      <dgm:prSet/>
      <dgm:spPr/>
      <dgm:t>
        <a:bodyPr/>
        <a:lstStyle/>
        <a:p>
          <a:endParaRPr lang="en-CA" sz="2000"/>
        </a:p>
      </dgm:t>
    </dgm:pt>
    <dgm:pt modelId="{8AC54B8D-390F-4D56-B2BC-C77AD914892C}" type="sibTrans" cxnId="{0BF011DE-B5A2-4311-97EA-2469BFA329FF}">
      <dgm:prSet/>
      <dgm:spPr/>
      <dgm:t>
        <a:bodyPr/>
        <a:lstStyle/>
        <a:p>
          <a:endParaRPr lang="en-CA"/>
        </a:p>
      </dgm:t>
    </dgm:pt>
    <dgm:pt modelId="{DEA22CE1-10B0-4B15-97E5-B84717BC74D8}">
      <dgm:prSet phldrT="[Text]"/>
      <dgm:spPr/>
      <dgm:t>
        <a:bodyPr/>
        <a:lstStyle/>
        <a:p>
          <a:r>
            <a:rPr lang="en-CA"/>
            <a:t>Group the data frame by Country</a:t>
          </a:r>
        </a:p>
      </dgm:t>
    </dgm:pt>
    <dgm:pt modelId="{5C9977AF-E8A7-401A-AB21-CD37DCA26F25}" type="parTrans" cxnId="{E47DF4E5-CF11-4D98-A0E4-200925341ECA}">
      <dgm:prSet/>
      <dgm:spPr/>
      <dgm:t>
        <a:bodyPr/>
        <a:lstStyle/>
        <a:p>
          <a:endParaRPr lang="en-CA" sz="2000"/>
        </a:p>
      </dgm:t>
    </dgm:pt>
    <dgm:pt modelId="{E037A13E-053B-4D0C-B4A6-34329EEC47DE}" type="sibTrans" cxnId="{E47DF4E5-CF11-4D98-A0E4-200925341ECA}">
      <dgm:prSet/>
      <dgm:spPr/>
      <dgm:t>
        <a:bodyPr/>
        <a:lstStyle/>
        <a:p>
          <a:endParaRPr lang="en-CA"/>
        </a:p>
      </dgm:t>
    </dgm:pt>
    <dgm:pt modelId="{030B6AB9-FD55-4437-9308-4B3C52A4253D}">
      <dgm:prSet phldrT="[Text]"/>
      <dgm:spPr/>
      <dgm:t>
        <a:bodyPr/>
        <a:lstStyle/>
        <a:p>
          <a:r>
            <a:rPr lang="en-CA"/>
            <a:t>Getting the mean will create a new data frame containing the Country as the index and the mean of Caffeine_mg of each Country</a:t>
          </a:r>
        </a:p>
      </dgm:t>
    </dgm:pt>
    <dgm:pt modelId="{BDA1962D-85C3-44C7-9ACA-D3AE1C71F65F}" type="parTrans" cxnId="{FA194DB6-D26D-49BA-B0A3-8D9A9E1510F4}">
      <dgm:prSet/>
      <dgm:spPr/>
      <dgm:t>
        <a:bodyPr/>
        <a:lstStyle/>
        <a:p>
          <a:endParaRPr lang="en-CA" sz="2000"/>
        </a:p>
      </dgm:t>
    </dgm:pt>
    <dgm:pt modelId="{0A2DE384-2D6C-4FF0-B5DF-2E22164DA75A}" type="sibTrans" cxnId="{FA194DB6-D26D-49BA-B0A3-8D9A9E1510F4}">
      <dgm:prSet/>
      <dgm:spPr/>
      <dgm:t>
        <a:bodyPr/>
        <a:lstStyle/>
        <a:p>
          <a:endParaRPr lang="en-CA"/>
        </a:p>
      </dgm:t>
    </dgm:pt>
    <dgm:pt modelId="{AD4CF742-6271-4F7C-835C-F02A776F9815}">
      <dgm:prSet phldrT="[Text]"/>
      <dgm:spPr/>
      <dgm:t>
        <a:bodyPr/>
        <a:lstStyle/>
        <a:p>
          <a:r>
            <a:rPr lang="en-CA"/>
            <a:t>Create a function that will give us a color where its lightness or darkness will depend on a supplied parameter</a:t>
          </a:r>
        </a:p>
      </dgm:t>
    </dgm:pt>
    <dgm:pt modelId="{63EF0C72-9D04-40B0-A5AE-CCE164A1D98C}" type="parTrans" cxnId="{926562CB-F48D-4BC5-8A42-3AA76B151B14}">
      <dgm:prSet/>
      <dgm:spPr/>
      <dgm:t>
        <a:bodyPr/>
        <a:lstStyle/>
        <a:p>
          <a:endParaRPr lang="en-CA" sz="2000"/>
        </a:p>
      </dgm:t>
    </dgm:pt>
    <dgm:pt modelId="{F0817E38-AF33-428D-A867-92D8AC5F65C4}" type="sibTrans" cxnId="{926562CB-F48D-4BC5-8A42-3AA76B151B14}">
      <dgm:prSet/>
      <dgm:spPr/>
      <dgm:t>
        <a:bodyPr/>
        <a:lstStyle/>
        <a:p>
          <a:endParaRPr lang="en-CA"/>
        </a:p>
      </dgm:t>
    </dgm:pt>
    <dgm:pt modelId="{DC4105F0-6F29-4B3D-9A0F-B4D431C83AD8}">
      <dgm:prSet phldrT="[Text]"/>
      <dgm:spPr/>
      <dgm:t>
        <a:bodyPr/>
        <a:lstStyle/>
        <a:p>
          <a:r>
            <a:rPr lang="en-CA" dirty="0"/>
            <a:t>Show the map figure</a:t>
          </a:r>
        </a:p>
      </dgm:t>
    </dgm:pt>
    <dgm:pt modelId="{E18C18C5-81FA-4915-89D5-B99229482AC0}" type="parTrans" cxnId="{BEDA1A6F-43EC-4B17-BE12-770AC733FA8B}">
      <dgm:prSet/>
      <dgm:spPr/>
      <dgm:t>
        <a:bodyPr/>
        <a:lstStyle/>
        <a:p>
          <a:endParaRPr lang="en-CA" sz="2000"/>
        </a:p>
      </dgm:t>
    </dgm:pt>
    <dgm:pt modelId="{F40B5495-5736-42AF-87EF-9DE1782DBA09}" type="sibTrans" cxnId="{BEDA1A6F-43EC-4B17-BE12-770AC733FA8B}">
      <dgm:prSet/>
      <dgm:spPr/>
      <dgm:t>
        <a:bodyPr/>
        <a:lstStyle/>
        <a:p>
          <a:endParaRPr lang="en-CA"/>
        </a:p>
      </dgm:t>
    </dgm:pt>
    <dgm:pt modelId="{0F9B80B6-9732-42C4-A585-C10813BCAAF7}">
      <dgm:prSet phldrT="[Text]"/>
      <dgm:spPr/>
      <dgm:t>
        <a:bodyPr/>
        <a:lstStyle/>
        <a:p>
          <a:r>
            <a:rPr lang="en-CA"/>
            <a:t>Add a column in the mean data frame that will contain the color of the Country using the new function</a:t>
          </a:r>
        </a:p>
      </dgm:t>
    </dgm:pt>
    <dgm:pt modelId="{D5376F8B-B55E-489D-849A-E9C3506CD555}" type="parTrans" cxnId="{0ED8D32B-2B05-41E8-951C-77CBB23FD649}">
      <dgm:prSet/>
      <dgm:spPr/>
      <dgm:t>
        <a:bodyPr/>
        <a:lstStyle/>
        <a:p>
          <a:endParaRPr lang="en-CA"/>
        </a:p>
      </dgm:t>
    </dgm:pt>
    <dgm:pt modelId="{65890A38-148E-4E3C-AB4F-AF76BBE36215}" type="sibTrans" cxnId="{0ED8D32B-2B05-41E8-951C-77CBB23FD649}">
      <dgm:prSet/>
      <dgm:spPr/>
      <dgm:t>
        <a:bodyPr/>
        <a:lstStyle/>
        <a:p>
          <a:endParaRPr lang="en-CA"/>
        </a:p>
      </dgm:t>
    </dgm:pt>
    <dgm:pt modelId="{E31ED6F0-C9AB-49DF-892B-37E30DE1D733}">
      <dgm:prSet phldrT="[Text]"/>
      <dgm:spPr/>
      <dgm:t>
        <a:bodyPr/>
        <a:lstStyle/>
        <a:p>
          <a:r>
            <a:rPr lang="en-CA"/>
            <a:t>Add a column in the mean data frame that will determine its ranking/order based on the mean</a:t>
          </a:r>
        </a:p>
      </dgm:t>
    </dgm:pt>
    <dgm:pt modelId="{B680BC7F-2D0B-43AE-A5D6-86577B1032E3}" type="parTrans" cxnId="{B1CF6477-A298-4F20-A55C-E73569C5F346}">
      <dgm:prSet/>
      <dgm:spPr/>
      <dgm:t>
        <a:bodyPr/>
        <a:lstStyle/>
        <a:p>
          <a:endParaRPr lang="en-CA"/>
        </a:p>
      </dgm:t>
    </dgm:pt>
    <dgm:pt modelId="{402152B3-E636-4D64-810B-7A763947E84D}" type="sibTrans" cxnId="{B1CF6477-A298-4F20-A55C-E73569C5F346}">
      <dgm:prSet/>
      <dgm:spPr/>
      <dgm:t>
        <a:bodyPr/>
        <a:lstStyle/>
        <a:p>
          <a:endParaRPr lang="en-CA"/>
        </a:p>
      </dgm:t>
    </dgm:pt>
    <dgm:pt modelId="{C4769F6D-63ED-4B39-9ACC-EEF2D03257F7}">
      <dgm:prSet phldrT="[Text]"/>
      <dgm:spPr/>
      <dgm:t>
        <a:bodyPr/>
        <a:lstStyle/>
        <a:p>
          <a:r>
            <a:rPr lang="en-CA"/>
            <a:t>Update Geo JSON properties to add new properties for color, rank and the mean</a:t>
          </a:r>
        </a:p>
      </dgm:t>
    </dgm:pt>
    <dgm:pt modelId="{C573B638-E457-4663-8824-87595AA806B8}" type="parTrans" cxnId="{9BB1D026-BA82-4B67-9200-B36F845B47B0}">
      <dgm:prSet/>
      <dgm:spPr/>
      <dgm:t>
        <a:bodyPr/>
        <a:lstStyle/>
        <a:p>
          <a:endParaRPr lang="en-CA"/>
        </a:p>
      </dgm:t>
    </dgm:pt>
    <dgm:pt modelId="{AE9E66D8-9247-499B-B85E-08823CB22477}" type="sibTrans" cxnId="{9BB1D026-BA82-4B67-9200-B36F845B47B0}">
      <dgm:prSet/>
      <dgm:spPr/>
      <dgm:t>
        <a:bodyPr/>
        <a:lstStyle/>
        <a:p>
          <a:endParaRPr lang="en-CA"/>
        </a:p>
      </dgm:t>
    </dgm:pt>
    <dgm:pt modelId="{824CA750-414E-4102-9019-60487C54D1AC}">
      <dgm:prSet phldrT="[Text]"/>
      <dgm:spPr/>
      <dgm:t>
        <a:bodyPr/>
        <a:lstStyle/>
        <a:p>
          <a:r>
            <a:rPr lang="en-CA"/>
            <a:t>Create the Bokeh figure and add tooltips displaying the Country name, rank, and the mean</a:t>
          </a:r>
        </a:p>
      </dgm:t>
    </dgm:pt>
    <dgm:pt modelId="{564D744F-861A-492F-8672-3E3987AA7DD4}" type="parTrans" cxnId="{829FAA55-8DE9-45CA-B832-17D285A7EAC3}">
      <dgm:prSet/>
      <dgm:spPr/>
      <dgm:t>
        <a:bodyPr/>
        <a:lstStyle/>
        <a:p>
          <a:endParaRPr lang="en-CA"/>
        </a:p>
      </dgm:t>
    </dgm:pt>
    <dgm:pt modelId="{C8320680-B642-436C-9E8B-7967DA4BE6A0}" type="sibTrans" cxnId="{829FAA55-8DE9-45CA-B832-17D285A7EAC3}">
      <dgm:prSet/>
      <dgm:spPr/>
      <dgm:t>
        <a:bodyPr/>
        <a:lstStyle/>
        <a:p>
          <a:endParaRPr lang="en-CA"/>
        </a:p>
      </dgm:t>
    </dgm:pt>
    <dgm:pt modelId="{317170AE-AC76-4A1B-81A3-92528C6E630D}" type="pres">
      <dgm:prSet presAssocID="{042166FC-C673-40E2-9C7F-18C1D849F35F}" presName="Name0" presStyleCnt="0">
        <dgm:presLayoutVars>
          <dgm:dir/>
          <dgm:resizeHandles val="exact"/>
        </dgm:presLayoutVars>
      </dgm:prSet>
      <dgm:spPr/>
    </dgm:pt>
    <dgm:pt modelId="{AF619C67-527E-4C7A-BB70-6E17E8767CDA}" type="pres">
      <dgm:prSet presAssocID="{87457798-AE95-4FC0-A3D4-D2D1E2510EC2}" presName="node" presStyleLbl="node1" presStyleIdx="0" presStyleCnt="11">
        <dgm:presLayoutVars>
          <dgm:bulletEnabled val="1"/>
        </dgm:presLayoutVars>
      </dgm:prSet>
      <dgm:spPr/>
    </dgm:pt>
    <dgm:pt modelId="{E6430874-53AA-40F7-9FAB-FE921AB49875}" type="pres">
      <dgm:prSet presAssocID="{26C8978B-211D-46D3-ACEF-D0CEFF0646AF}" presName="sibTrans" presStyleLbl="sibTrans1D1" presStyleIdx="0" presStyleCnt="10"/>
      <dgm:spPr/>
    </dgm:pt>
    <dgm:pt modelId="{ABFB075F-B5D5-4E2D-8F96-AEF03E5FA224}" type="pres">
      <dgm:prSet presAssocID="{26C8978B-211D-46D3-ACEF-D0CEFF0646AF}" presName="connectorText" presStyleLbl="sibTrans1D1" presStyleIdx="0" presStyleCnt="10"/>
      <dgm:spPr/>
    </dgm:pt>
    <dgm:pt modelId="{72A6F61B-19F6-445F-B603-C41DEDB27617}" type="pres">
      <dgm:prSet presAssocID="{DEA22CE1-10B0-4B15-97E5-B84717BC74D8}" presName="node" presStyleLbl="node1" presStyleIdx="1" presStyleCnt="11">
        <dgm:presLayoutVars>
          <dgm:bulletEnabled val="1"/>
        </dgm:presLayoutVars>
      </dgm:prSet>
      <dgm:spPr/>
    </dgm:pt>
    <dgm:pt modelId="{833B1045-FE94-4EAB-8E0A-8DBA61C6984E}" type="pres">
      <dgm:prSet presAssocID="{E037A13E-053B-4D0C-B4A6-34329EEC47DE}" presName="sibTrans" presStyleLbl="sibTrans1D1" presStyleIdx="1" presStyleCnt="10"/>
      <dgm:spPr/>
    </dgm:pt>
    <dgm:pt modelId="{1FC75AD1-A8E4-411B-8135-96C0C09756E4}" type="pres">
      <dgm:prSet presAssocID="{E037A13E-053B-4D0C-B4A6-34329EEC47DE}" presName="connectorText" presStyleLbl="sibTrans1D1" presStyleIdx="1" presStyleCnt="10"/>
      <dgm:spPr/>
    </dgm:pt>
    <dgm:pt modelId="{4125C49D-280E-44FC-9D4B-82D6E7AC876F}" type="pres">
      <dgm:prSet presAssocID="{FEFFC478-2D13-4A96-A826-5827FD0D6D67}" presName="node" presStyleLbl="node1" presStyleIdx="2" presStyleCnt="11">
        <dgm:presLayoutVars>
          <dgm:bulletEnabled val="1"/>
        </dgm:presLayoutVars>
      </dgm:prSet>
      <dgm:spPr/>
    </dgm:pt>
    <dgm:pt modelId="{622D2A70-4A0D-4C91-91C4-47240F85610D}" type="pres">
      <dgm:prSet presAssocID="{3D09E437-6105-4065-94F6-AA586C92E54F}" presName="sibTrans" presStyleLbl="sibTrans1D1" presStyleIdx="2" presStyleCnt="10"/>
      <dgm:spPr/>
    </dgm:pt>
    <dgm:pt modelId="{E088606E-26CE-41CA-A8AD-7637C8D03A4E}" type="pres">
      <dgm:prSet presAssocID="{3D09E437-6105-4065-94F6-AA586C92E54F}" presName="connectorText" presStyleLbl="sibTrans1D1" presStyleIdx="2" presStyleCnt="10"/>
      <dgm:spPr/>
    </dgm:pt>
    <dgm:pt modelId="{FEB32394-3F32-4734-A0C1-FD8D0B6A012B}" type="pres">
      <dgm:prSet presAssocID="{18BA737B-C600-494D-B56C-76A93CCAB19E}" presName="node" presStyleLbl="node1" presStyleIdx="3" presStyleCnt="11">
        <dgm:presLayoutVars>
          <dgm:bulletEnabled val="1"/>
        </dgm:presLayoutVars>
      </dgm:prSet>
      <dgm:spPr/>
    </dgm:pt>
    <dgm:pt modelId="{EDA1585B-EE64-4F85-B5A1-3AF2FC4FA28E}" type="pres">
      <dgm:prSet presAssocID="{8AC54B8D-390F-4D56-B2BC-C77AD914892C}" presName="sibTrans" presStyleLbl="sibTrans1D1" presStyleIdx="3" presStyleCnt="10"/>
      <dgm:spPr/>
    </dgm:pt>
    <dgm:pt modelId="{AF32EA37-0E0B-4642-81A7-6C8F73646551}" type="pres">
      <dgm:prSet presAssocID="{8AC54B8D-390F-4D56-B2BC-C77AD914892C}" presName="connectorText" presStyleLbl="sibTrans1D1" presStyleIdx="3" presStyleCnt="10"/>
      <dgm:spPr/>
    </dgm:pt>
    <dgm:pt modelId="{55258D2A-8175-4BE7-99EC-8D9EC09B1D50}" type="pres">
      <dgm:prSet presAssocID="{030B6AB9-FD55-4437-9308-4B3C52A4253D}" presName="node" presStyleLbl="node1" presStyleIdx="4" presStyleCnt="11">
        <dgm:presLayoutVars>
          <dgm:bulletEnabled val="1"/>
        </dgm:presLayoutVars>
      </dgm:prSet>
      <dgm:spPr/>
    </dgm:pt>
    <dgm:pt modelId="{26C291D6-E345-4ADB-AC59-8C149C5EE1E0}" type="pres">
      <dgm:prSet presAssocID="{0A2DE384-2D6C-4FF0-B5DF-2E22164DA75A}" presName="sibTrans" presStyleLbl="sibTrans1D1" presStyleIdx="4" presStyleCnt="10"/>
      <dgm:spPr/>
    </dgm:pt>
    <dgm:pt modelId="{BBFB33D4-3F3B-46C1-98CB-BB898B224065}" type="pres">
      <dgm:prSet presAssocID="{0A2DE384-2D6C-4FF0-B5DF-2E22164DA75A}" presName="connectorText" presStyleLbl="sibTrans1D1" presStyleIdx="4" presStyleCnt="10"/>
      <dgm:spPr/>
    </dgm:pt>
    <dgm:pt modelId="{AE751B28-2839-4C98-9314-36B9AEB11ACA}" type="pres">
      <dgm:prSet presAssocID="{AD4CF742-6271-4F7C-835C-F02A776F9815}" presName="node" presStyleLbl="node1" presStyleIdx="5" presStyleCnt="11">
        <dgm:presLayoutVars>
          <dgm:bulletEnabled val="1"/>
        </dgm:presLayoutVars>
      </dgm:prSet>
      <dgm:spPr/>
    </dgm:pt>
    <dgm:pt modelId="{AF581AD7-5D64-4324-9BEA-6133056E8FDE}" type="pres">
      <dgm:prSet presAssocID="{F0817E38-AF33-428D-A867-92D8AC5F65C4}" presName="sibTrans" presStyleLbl="sibTrans1D1" presStyleIdx="5" presStyleCnt="10"/>
      <dgm:spPr/>
    </dgm:pt>
    <dgm:pt modelId="{BE3A0D86-2610-45CE-80ED-921456B7E93C}" type="pres">
      <dgm:prSet presAssocID="{F0817E38-AF33-428D-A867-92D8AC5F65C4}" presName="connectorText" presStyleLbl="sibTrans1D1" presStyleIdx="5" presStyleCnt="10"/>
      <dgm:spPr/>
    </dgm:pt>
    <dgm:pt modelId="{D150F3C1-5303-4086-8A49-A92D70982CE5}" type="pres">
      <dgm:prSet presAssocID="{0F9B80B6-9732-42C4-A585-C10813BCAAF7}" presName="node" presStyleLbl="node1" presStyleIdx="6" presStyleCnt="11">
        <dgm:presLayoutVars>
          <dgm:bulletEnabled val="1"/>
        </dgm:presLayoutVars>
      </dgm:prSet>
      <dgm:spPr/>
    </dgm:pt>
    <dgm:pt modelId="{A580A160-5960-4617-828A-DB0C1EBA68BB}" type="pres">
      <dgm:prSet presAssocID="{65890A38-148E-4E3C-AB4F-AF76BBE36215}" presName="sibTrans" presStyleLbl="sibTrans1D1" presStyleIdx="6" presStyleCnt="10"/>
      <dgm:spPr/>
    </dgm:pt>
    <dgm:pt modelId="{FC8944B2-0996-4896-91C5-40EDFB250225}" type="pres">
      <dgm:prSet presAssocID="{65890A38-148E-4E3C-AB4F-AF76BBE36215}" presName="connectorText" presStyleLbl="sibTrans1D1" presStyleIdx="6" presStyleCnt="10"/>
      <dgm:spPr/>
    </dgm:pt>
    <dgm:pt modelId="{B6D2D259-E2C3-47A4-ADF1-F97BD6A7FBB8}" type="pres">
      <dgm:prSet presAssocID="{E31ED6F0-C9AB-49DF-892B-37E30DE1D733}" presName="node" presStyleLbl="node1" presStyleIdx="7" presStyleCnt="11">
        <dgm:presLayoutVars>
          <dgm:bulletEnabled val="1"/>
        </dgm:presLayoutVars>
      </dgm:prSet>
      <dgm:spPr/>
    </dgm:pt>
    <dgm:pt modelId="{1C6F48BE-B61C-4929-B433-8DD683AD1081}" type="pres">
      <dgm:prSet presAssocID="{402152B3-E636-4D64-810B-7A763947E84D}" presName="sibTrans" presStyleLbl="sibTrans1D1" presStyleIdx="7" presStyleCnt="10"/>
      <dgm:spPr/>
    </dgm:pt>
    <dgm:pt modelId="{28A430BF-C210-4E52-9558-F555288051A2}" type="pres">
      <dgm:prSet presAssocID="{402152B3-E636-4D64-810B-7A763947E84D}" presName="connectorText" presStyleLbl="sibTrans1D1" presStyleIdx="7" presStyleCnt="10"/>
      <dgm:spPr/>
    </dgm:pt>
    <dgm:pt modelId="{E8757B66-7F56-44A6-B440-221FA063B73A}" type="pres">
      <dgm:prSet presAssocID="{C4769F6D-63ED-4B39-9ACC-EEF2D03257F7}" presName="node" presStyleLbl="node1" presStyleIdx="8" presStyleCnt="11">
        <dgm:presLayoutVars>
          <dgm:bulletEnabled val="1"/>
        </dgm:presLayoutVars>
      </dgm:prSet>
      <dgm:spPr/>
    </dgm:pt>
    <dgm:pt modelId="{8A1F291C-6CED-434C-896F-AF5EE00C4573}" type="pres">
      <dgm:prSet presAssocID="{AE9E66D8-9247-499B-B85E-08823CB22477}" presName="sibTrans" presStyleLbl="sibTrans1D1" presStyleIdx="8" presStyleCnt="10"/>
      <dgm:spPr/>
    </dgm:pt>
    <dgm:pt modelId="{B02A2C11-3BC0-43CD-80FF-47819EE1682B}" type="pres">
      <dgm:prSet presAssocID="{AE9E66D8-9247-499B-B85E-08823CB22477}" presName="connectorText" presStyleLbl="sibTrans1D1" presStyleIdx="8" presStyleCnt="10"/>
      <dgm:spPr/>
    </dgm:pt>
    <dgm:pt modelId="{7A9575D4-1238-4301-9A65-2775D07597F0}" type="pres">
      <dgm:prSet presAssocID="{824CA750-414E-4102-9019-60487C54D1AC}" presName="node" presStyleLbl="node1" presStyleIdx="9" presStyleCnt="11">
        <dgm:presLayoutVars>
          <dgm:bulletEnabled val="1"/>
        </dgm:presLayoutVars>
      </dgm:prSet>
      <dgm:spPr/>
    </dgm:pt>
    <dgm:pt modelId="{8406FCB0-646D-4B54-9FB5-41D95ECB33E2}" type="pres">
      <dgm:prSet presAssocID="{C8320680-B642-436C-9E8B-7967DA4BE6A0}" presName="sibTrans" presStyleLbl="sibTrans1D1" presStyleIdx="9" presStyleCnt="10"/>
      <dgm:spPr/>
    </dgm:pt>
    <dgm:pt modelId="{90E010E3-8071-42D1-9AD8-19ACE0D07717}" type="pres">
      <dgm:prSet presAssocID="{C8320680-B642-436C-9E8B-7967DA4BE6A0}" presName="connectorText" presStyleLbl="sibTrans1D1" presStyleIdx="9" presStyleCnt="10"/>
      <dgm:spPr/>
    </dgm:pt>
    <dgm:pt modelId="{FC831BE2-03E6-47FE-B651-32FBBA9EB1CE}" type="pres">
      <dgm:prSet presAssocID="{DC4105F0-6F29-4B3D-9A0F-B4D431C83AD8}" presName="node" presStyleLbl="node1" presStyleIdx="10" presStyleCnt="11">
        <dgm:presLayoutVars>
          <dgm:bulletEnabled val="1"/>
        </dgm:presLayoutVars>
      </dgm:prSet>
      <dgm:spPr/>
    </dgm:pt>
  </dgm:ptLst>
  <dgm:cxnLst>
    <dgm:cxn modelId="{4E969B03-256E-4474-8384-F054AEE24E4F}" type="presOf" srcId="{E037A13E-053B-4D0C-B4A6-34329EEC47DE}" destId="{1FC75AD1-A8E4-411B-8135-96C0C09756E4}" srcOrd="1" destOrd="0" presId="urn:microsoft.com/office/officeart/2016/7/layout/RepeatingBendingProcessNew"/>
    <dgm:cxn modelId="{420B1B0E-A1AF-4B99-8913-9E20A6EF4EB2}" type="presOf" srcId="{8AC54B8D-390F-4D56-B2BC-C77AD914892C}" destId="{EDA1585B-EE64-4F85-B5A1-3AF2FC4FA28E}" srcOrd="0" destOrd="0" presId="urn:microsoft.com/office/officeart/2016/7/layout/RepeatingBendingProcessNew"/>
    <dgm:cxn modelId="{3D16550E-A25F-43E2-865D-F3F8DC5D1C5F}" type="presOf" srcId="{030B6AB9-FD55-4437-9308-4B3C52A4253D}" destId="{55258D2A-8175-4BE7-99EC-8D9EC09B1D50}" srcOrd="0" destOrd="0" presId="urn:microsoft.com/office/officeart/2016/7/layout/RepeatingBendingProcessNew"/>
    <dgm:cxn modelId="{00027912-997A-40D0-A7F8-6BFB967FE169}" type="presOf" srcId="{402152B3-E636-4D64-810B-7A763947E84D}" destId="{1C6F48BE-B61C-4929-B433-8DD683AD1081}" srcOrd="0" destOrd="0" presId="urn:microsoft.com/office/officeart/2016/7/layout/RepeatingBendingProcessNew"/>
    <dgm:cxn modelId="{3DE4C212-4B97-49B7-BF68-AF91966C67EF}" type="presOf" srcId="{C4769F6D-63ED-4B39-9ACC-EEF2D03257F7}" destId="{E8757B66-7F56-44A6-B440-221FA063B73A}" srcOrd="0" destOrd="0" presId="urn:microsoft.com/office/officeart/2016/7/layout/RepeatingBendingProcessNew"/>
    <dgm:cxn modelId="{FBD78122-A085-4B58-A815-6CFCA25AD738}" type="presOf" srcId="{87457798-AE95-4FC0-A3D4-D2D1E2510EC2}" destId="{AF619C67-527E-4C7A-BB70-6E17E8767CDA}" srcOrd="0" destOrd="0" presId="urn:microsoft.com/office/officeart/2016/7/layout/RepeatingBendingProcessNew"/>
    <dgm:cxn modelId="{9BB1D026-BA82-4B67-9200-B36F845B47B0}" srcId="{042166FC-C673-40E2-9C7F-18C1D849F35F}" destId="{C4769F6D-63ED-4B39-9ACC-EEF2D03257F7}" srcOrd="8" destOrd="0" parTransId="{C573B638-E457-4663-8824-87595AA806B8}" sibTransId="{AE9E66D8-9247-499B-B85E-08823CB22477}"/>
    <dgm:cxn modelId="{0ED8D32B-2B05-41E8-951C-77CBB23FD649}" srcId="{042166FC-C673-40E2-9C7F-18C1D849F35F}" destId="{0F9B80B6-9732-42C4-A585-C10813BCAAF7}" srcOrd="6" destOrd="0" parTransId="{D5376F8B-B55E-489D-849A-E9C3506CD555}" sibTransId="{65890A38-148E-4E3C-AB4F-AF76BBE36215}"/>
    <dgm:cxn modelId="{BD632131-7616-454C-9711-B10AD2C4E984}" type="presOf" srcId="{DC4105F0-6F29-4B3D-9A0F-B4D431C83AD8}" destId="{FC831BE2-03E6-47FE-B651-32FBBA9EB1CE}" srcOrd="0" destOrd="0" presId="urn:microsoft.com/office/officeart/2016/7/layout/RepeatingBendingProcessNew"/>
    <dgm:cxn modelId="{88536A3E-85F8-42FC-B4CD-58F368391393}" type="presOf" srcId="{FEFFC478-2D13-4A96-A826-5827FD0D6D67}" destId="{4125C49D-280E-44FC-9D4B-82D6E7AC876F}" srcOrd="0" destOrd="0" presId="urn:microsoft.com/office/officeart/2016/7/layout/RepeatingBendingProcessNew"/>
    <dgm:cxn modelId="{A5A5D65F-2BD3-49C0-BF72-3F4DB3244224}" type="presOf" srcId="{824CA750-414E-4102-9019-60487C54D1AC}" destId="{7A9575D4-1238-4301-9A65-2775D07597F0}" srcOrd="0" destOrd="0" presId="urn:microsoft.com/office/officeart/2016/7/layout/RepeatingBendingProcessNew"/>
    <dgm:cxn modelId="{B1730963-1A2C-4ADC-9071-054C24529B67}" type="presOf" srcId="{AD4CF742-6271-4F7C-835C-F02A776F9815}" destId="{AE751B28-2839-4C98-9314-36B9AEB11ACA}" srcOrd="0" destOrd="0" presId="urn:microsoft.com/office/officeart/2016/7/layout/RepeatingBendingProcessNew"/>
    <dgm:cxn modelId="{B2D27649-5AC5-425D-A315-162EA65D7134}" type="presOf" srcId="{DEA22CE1-10B0-4B15-97E5-B84717BC74D8}" destId="{72A6F61B-19F6-445F-B603-C41DEDB27617}" srcOrd="0" destOrd="0" presId="urn:microsoft.com/office/officeart/2016/7/layout/RepeatingBendingProcessNew"/>
    <dgm:cxn modelId="{6AFDFE69-80E6-4CE8-9413-E3949B196A54}" type="presOf" srcId="{F0817E38-AF33-428D-A867-92D8AC5F65C4}" destId="{BE3A0D86-2610-45CE-80ED-921456B7E93C}" srcOrd="1" destOrd="0" presId="urn:microsoft.com/office/officeart/2016/7/layout/RepeatingBendingProcessNew"/>
    <dgm:cxn modelId="{FF799F6D-FD6E-4063-A1C3-DB7137B4E969}" type="presOf" srcId="{F0817E38-AF33-428D-A867-92D8AC5F65C4}" destId="{AF581AD7-5D64-4324-9BEA-6133056E8FDE}" srcOrd="0" destOrd="0" presId="urn:microsoft.com/office/officeart/2016/7/layout/RepeatingBendingProcessNew"/>
    <dgm:cxn modelId="{BEDA1A6F-43EC-4B17-BE12-770AC733FA8B}" srcId="{042166FC-C673-40E2-9C7F-18C1D849F35F}" destId="{DC4105F0-6F29-4B3D-9A0F-B4D431C83AD8}" srcOrd="10" destOrd="0" parTransId="{E18C18C5-81FA-4915-89D5-B99229482AC0}" sibTransId="{F40B5495-5736-42AF-87EF-9DE1782DBA09}"/>
    <dgm:cxn modelId="{7769C852-44B9-42F3-A580-1C74232CE9D2}" type="presOf" srcId="{65890A38-148E-4E3C-AB4F-AF76BBE36215}" destId="{A580A160-5960-4617-828A-DB0C1EBA68BB}" srcOrd="0" destOrd="0" presId="urn:microsoft.com/office/officeart/2016/7/layout/RepeatingBendingProcessNew"/>
    <dgm:cxn modelId="{829FAA55-8DE9-45CA-B832-17D285A7EAC3}" srcId="{042166FC-C673-40E2-9C7F-18C1D849F35F}" destId="{824CA750-414E-4102-9019-60487C54D1AC}" srcOrd="9" destOrd="0" parTransId="{564D744F-861A-492F-8672-3E3987AA7DD4}" sibTransId="{C8320680-B642-436C-9E8B-7967DA4BE6A0}"/>
    <dgm:cxn modelId="{B1CF6477-A298-4F20-A55C-E73569C5F346}" srcId="{042166FC-C673-40E2-9C7F-18C1D849F35F}" destId="{E31ED6F0-C9AB-49DF-892B-37E30DE1D733}" srcOrd="7" destOrd="0" parTransId="{B680BC7F-2D0B-43AE-A5D6-86577B1032E3}" sibTransId="{402152B3-E636-4D64-810B-7A763947E84D}"/>
    <dgm:cxn modelId="{20C5CA59-43F4-4D18-9AD5-DADA35017728}" type="presOf" srcId="{0A2DE384-2D6C-4FF0-B5DF-2E22164DA75A}" destId="{26C291D6-E345-4ADB-AC59-8C149C5EE1E0}" srcOrd="0" destOrd="0" presId="urn:microsoft.com/office/officeart/2016/7/layout/RepeatingBendingProcessNew"/>
    <dgm:cxn modelId="{AEEBF079-9D11-4D01-83F4-97C73B180FF2}" type="presOf" srcId="{0F9B80B6-9732-42C4-A585-C10813BCAAF7}" destId="{D150F3C1-5303-4086-8A49-A92D70982CE5}" srcOrd="0" destOrd="0" presId="urn:microsoft.com/office/officeart/2016/7/layout/RepeatingBendingProcessNew"/>
    <dgm:cxn modelId="{DE14787A-AFB9-4BC6-B071-6E5A9337C551}" type="presOf" srcId="{18BA737B-C600-494D-B56C-76A93CCAB19E}" destId="{FEB32394-3F32-4734-A0C1-FD8D0B6A012B}" srcOrd="0" destOrd="0" presId="urn:microsoft.com/office/officeart/2016/7/layout/RepeatingBendingProcessNew"/>
    <dgm:cxn modelId="{6AA9AB8A-30D3-4121-97D3-037BD8B8DA6A}" srcId="{042166FC-C673-40E2-9C7F-18C1D849F35F}" destId="{FEFFC478-2D13-4A96-A826-5827FD0D6D67}" srcOrd="2" destOrd="0" parTransId="{85191E7C-BC2C-4089-914C-71C0F0BAD82E}" sibTransId="{3D09E437-6105-4065-94F6-AA586C92E54F}"/>
    <dgm:cxn modelId="{14ADC78A-E565-4CAF-8E53-9C3D8BEC6D9F}" type="presOf" srcId="{C8320680-B642-436C-9E8B-7967DA4BE6A0}" destId="{8406FCB0-646D-4B54-9FB5-41D95ECB33E2}" srcOrd="0" destOrd="0" presId="urn:microsoft.com/office/officeart/2016/7/layout/RepeatingBendingProcessNew"/>
    <dgm:cxn modelId="{E701DE91-AA32-40F2-A35D-FCD909F4748B}" type="presOf" srcId="{8AC54B8D-390F-4D56-B2BC-C77AD914892C}" destId="{AF32EA37-0E0B-4642-81A7-6C8F73646551}" srcOrd="1" destOrd="0" presId="urn:microsoft.com/office/officeart/2016/7/layout/RepeatingBendingProcessNew"/>
    <dgm:cxn modelId="{CA231D93-25BD-41F1-A0E4-4CE99AA342BA}" type="presOf" srcId="{042166FC-C673-40E2-9C7F-18C1D849F35F}" destId="{317170AE-AC76-4A1B-81A3-92528C6E630D}" srcOrd="0" destOrd="0" presId="urn:microsoft.com/office/officeart/2016/7/layout/RepeatingBendingProcessNew"/>
    <dgm:cxn modelId="{797B7EAB-082D-4D7B-9463-F8CCBEE2FD8C}" type="presOf" srcId="{3D09E437-6105-4065-94F6-AA586C92E54F}" destId="{E088606E-26CE-41CA-A8AD-7637C8D03A4E}" srcOrd="1" destOrd="0" presId="urn:microsoft.com/office/officeart/2016/7/layout/RepeatingBendingProcessNew"/>
    <dgm:cxn modelId="{FA194DB6-D26D-49BA-B0A3-8D9A9E1510F4}" srcId="{042166FC-C673-40E2-9C7F-18C1D849F35F}" destId="{030B6AB9-FD55-4437-9308-4B3C52A4253D}" srcOrd="4" destOrd="0" parTransId="{BDA1962D-85C3-44C7-9ACA-D3AE1C71F65F}" sibTransId="{0A2DE384-2D6C-4FF0-B5DF-2E22164DA75A}"/>
    <dgm:cxn modelId="{D64F68BE-DCF3-4B71-A85D-EA6C3F39E92B}" type="presOf" srcId="{3D09E437-6105-4065-94F6-AA586C92E54F}" destId="{622D2A70-4A0D-4C91-91C4-47240F85610D}" srcOrd="0" destOrd="0" presId="urn:microsoft.com/office/officeart/2016/7/layout/RepeatingBendingProcessNew"/>
    <dgm:cxn modelId="{20A81AC3-D66A-488E-8603-662A7AA1ED3A}" type="presOf" srcId="{26C8978B-211D-46D3-ACEF-D0CEFF0646AF}" destId="{E6430874-53AA-40F7-9FAB-FE921AB49875}" srcOrd="0" destOrd="0" presId="urn:microsoft.com/office/officeart/2016/7/layout/RepeatingBendingProcessNew"/>
    <dgm:cxn modelId="{02185FC4-38A9-42D9-884E-0C2E2889BB1B}" type="presOf" srcId="{E31ED6F0-C9AB-49DF-892B-37E30DE1D733}" destId="{B6D2D259-E2C3-47A4-ADF1-F97BD6A7FBB8}" srcOrd="0" destOrd="0" presId="urn:microsoft.com/office/officeart/2016/7/layout/RepeatingBendingProcessNew"/>
    <dgm:cxn modelId="{DF201DC8-D396-4119-92F7-A0A6D3AC9E2D}" type="presOf" srcId="{402152B3-E636-4D64-810B-7A763947E84D}" destId="{28A430BF-C210-4E52-9558-F555288051A2}" srcOrd="1" destOrd="0" presId="urn:microsoft.com/office/officeart/2016/7/layout/RepeatingBendingProcessNew"/>
    <dgm:cxn modelId="{926562CB-F48D-4BC5-8A42-3AA76B151B14}" srcId="{042166FC-C673-40E2-9C7F-18C1D849F35F}" destId="{AD4CF742-6271-4F7C-835C-F02A776F9815}" srcOrd="5" destOrd="0" parTransId="{63EF0C72-9D04-40B0-A5AE-CCE164A1D98C}" sibTransId="{F0817E38-AF33-428D-A867-92D8AC5F65C4}"/>
    <dgm:cxn modelId="{3F61A3CC-E3A4-419E-AF0B-FFACEEA286C7}" type="presOf" srcId="{65890A38-148E-4E3C-AB4F-AF76BBE36215}" destId="{FC8944B2-0996-4896-91C5-40EDFB250225}" srcOrd="1" destOrd="0" presId="urn:microsoft.com/office/officeart/2016/7/layout/RepeatingBendingProcessNew"/>
    <dgm:cxn modelId="{A22EC7CC-3D67-4475-9CA9-95B74031259C}" type="presOf" srcId="{AE9E66D8-9247-499B-B85E-08823CB22477}" destId="{8A1F291C-6CED-434C-896F-AF5EE00C4573}" srcOrd="0" destOrd="0" presId="urn:microsoft.com/office/officeart/2016/7/layout/RepeatingBendingProcessNew"/>
    <dgm:cxn modelId="{5CD30AD9-FF89-42CB-B96A-80C4294FCC42}" type="presOf" srcId="{E037A13E-053B-4D0C-B4A6-34329EEC47DE}" destId="{833B1045-FE94-4EAB-8E0A-8DBA61C6984E}" srcOrd="0" destOrd="0" presId="urn:microsoft.com/office/officeart/2016/7/layout/RepeatingBendingProcessNew"/>
    <dgm:cxn modelId="{0BF011DE-B5A2-4311-97EA-2469BFA329FF}" srcId="{042166FC-C673-40E2-9C7F-18C1D849F35F}" destId="{18BA737B-C600-494D-B56C-76A93CCAB19E}" srcOrd="3" destOrd="0" parTransId="{69F3A809-50C0-4498-A2E5-3681DACD8F11}" sibTransId="{8AC54B8D-390F-4D56-B2BC-C77AD914892C}"/>
    <dgm:cxn modelId="{B9BF00E1-0624-4198-9B0E-9A6A5C2360BF}" type="presOf" srcId="{AE9E66D8-9247-499B-B85E-08823CB22477}" destId="{B02A2C11-3BC0-43CD-80FF-47819EE1682B}" srcOrd="1" destOrd="0" presId="urn:microsoft.com/office/officeart/2016/7/layout/RepeatingBendingProcessNew"/>
    <dgm:cxn modelId="{3CC8EBE2-3EDC-46AB-A5AB-1766F59B98AC}" type="presOf" srcId="{26C8978B-211D-46D3-ACEF-D0CEFF0646AF}" destId="{ABFB075F-B5D5-4E2D-8F96-AEF03E5FA224}" srcOrd="1" destOrd="0" presId="urn:microsoft.com/office/officeart/2016/7/layout/RepeatingBendingProcessNew"/>
    <dgm:cxn modelId="{212356E3-FE13-4371-8780-BF952A02D873}" type="presOf" srcId="{0A2DE384-2D6C-4FF0-B5DF-2E22164DA75A}" destId="{BBFB33D4-3F3B-46C1-98CB-BB898B224065}" srcOrd="1" destOrd="0" presId="urn:microsoft.com/office/officeart/2016/7/layout/RepeatingBendingProcessNew"/>
    <dgm:cxn modelId="{E47DF4E5-CF11-4D98-A0E4-200925341ECA}" srcId="{042166FC-C673-40E2-9C7F-18C1D849F35F}" destId="{DEA22CE1-10B0-4B15-97E5-B84717BC74D8}" srcOrd="1" destOrd="0" parTransId="{5C9977AF-E8A7-401A-AB21-CD37DCA26F25}" sibTransId="{E037A13E-053B-4D0C-B4A6-34329EEC47DE}"/>
    <dgm:cxn modelId="{6057DAF1-AE65-4F9D-B8DA-959CEC962CD2}" type="presOf" srcId="{C8320680-B642-436C-9E8B-7967DA4BE6A0}" destId="{90E010E3-8071-42D1-9AD8-19ACE0D07717}" srcOrd="1" destOrd="0" presId="urn:microsoft.com/office/officeart/2016/7/layout/RepeatingBendingProcessNew"/>
    <dgm:cxn modelId="{DE6AF6F8-8E02-4406-8DB9-67DC923BBC7F}" srcId="{042166FC-C673-40E2-9C7F-18C1D849F35F}" destId="{87457798-AE95-4FC0-A3D4-D2D1E2510EC2}" srcOrd="0" destOrd="0" parTransId="{3DE55FC3-1A98-4217-8C5B-99BE8CA04A22}" sibTransId="{26C8978B-211D-46D3-ACEF-D0CEFF0646AF}"/>
    <dgm:cxn modelId="{DCDD5A18-387B-494F-98A8-365D2711A6EA}" type="presParOf" srcId="{317170AE-AC76-4A1B-81A3-92528C6E630D}" destId="{AF619C67-527E-4C7A-BB70-6E17E8767CDA}" srcOrd="0" destOrd="0" presId="urn:microsoft.com/office/officeart/2016/7/layout/RepeatingBendingProcessNew"/>
    <dgm:cxn modelId="{19A45FEB-FD7B-40F2-AB17-57FC5B09ED6F}" type="presParOf" srcId="{317170AE-AC76-4A1B-81A3-92528C6E630D}" destId="{E6430874-53AA-40F7-9FAB-FE921AB49875}" srcOrd="1" destOrd="0" presId="urn:microsoft.com/office/officeart/2016/7/layout/RepeatingBendingProcessNew"/>
    <dgm:cxn modelId="{413F871E-E3AC-4561-BB53-45F2B94670B4}" type="presParOf" srcId="{E6430874-53AA-40F7-9FAB-FE921AB49875}" destId="{ABFB075F-B5D5-4E2D-8F96-AEF03E5FA224}" srcOrd="0" destOrd="0" presId="urn:microsoft.com/office/officeart/2016/7/layout/RepeatingBendingProcessNew"/>
    <dgm:cxn modelId="{ED846E50-3A46-4CDE-9B39-19DC19109D34}" type="presParOf" srcId="{317170AE-AC76-4A1B-81A3-92528C6E630D}" destId="{72A6F61B-19F6-445F-B603-C41DEDB27617}" srcOrd="2" destOrd="0" presId="urn:microsoft.com/office/officeart/2016/7/layout/RepeatingBendingProcessNew"/>
    <dgm:cxn modelId="{310D4992-E5CC-4E6A-828C-4CE033A4AD4D}" type="presParOf" srcId="{317170AE-AC76-4A1B-81A3-92528C6E630D}" destId="{833B1045-FE94-4EAB-8E0A-8DBA61C6984E}" srcOrd="3" destOrd="0" presId="urn:microsoft.com/office/officeart/2016/7/layout/RepeatingBendingProcessNew"/>
    <dgm:cxn modelId="{28F2162E-879F-4DBA-96E4-3F851A9BD620}" type="presParOf" srcId="{833B1045-FE94-4EAB-8E0A-8DBA61C6984E}" destId="{1FC75AD1-A8E4-411B-8135-96C0C09756E4}" srcOrd="0" destOrd="0" presId="urn:microsoft.com/office/officeart/2016/7/layout/RepeatingBendingProcessNew"/>
    <dgm:cxn modelId="{3871EDE1-FB98-4539-B5A6-29D0ED3D19EB}" type="presParOf" srcId="{317170AE-AC76-4A1B-81A3-92528C6E630D}" destId="{4125C49D-280E-44FC-9D4B-82D6E7AC876F}" srcOrd="4" destOrd="0" presId="urn:microsoft.com/office/officeart/2016/7/layout/RepeatingBendingProcessNew"/>
    <dgm:cxn modelId="{2124402B-84D3-4347-9515-A745794B4BD9}" type="presParOf" srcId="{317170AE-AC76-4A1B-81A3-92528C6E630D}" destId="{622D2A70-4A0D-4C91-91C4-47240F85610D}" srcOrd="5" destOrd="0" presId="urn:microsoft.com/office/officeart/2016/7/layout/RepeatingBendingProcessNew"/>
    <dgm:cxn modelId="{789EF195-BBDF-4921-8F55-32A0B9F78DF2}" type="presParOf" srcId="{622D2A70-4A0D-4C91-91C4-47240F85610D}" destId="{E088606E-26CE-41CA-A8AD-7637C8D03A4E}" srcOrd="0" destOrd="0" presId="urn:microsoft.com/office/officeart/2016/7/layout/RepeatingBendingProcessNew"/>
    <dgm:cxn modelId="{F1361E77-AF28-4D39-A8FC-CC28A14F63CE}" type="presParOf" srcId="{317170AE-AC76-4A1B-81A3-92528C6E630D}" destId="{FEB32394-3F32-4734-A0C1-FD8D0B6A012B}" srcOrd="6" destOrd="0" presId="urn:microsoft.com/office/officeart/2016/7/layout/RepeatingBendingProcessNew"/>
    <dgm:cxn modelId="{97FF1FC2-6E04-4E04-883E-DACF5A30FC38}" type="presParOf" srcId="{317170AE-AC76-4A1B-81A3-92528C6E630D}" destId="{EDA1585B-EE64-4F85-B5A1-3AF2FC4FA28E}" srcOrd="7" destOrd="0" presId="urn:microsoft.com/office/officeart/2016/7/layout/RepeatingBendingProcessNew"/>
    <dgm:cxn modelId="{D36FDE10-7663-4956-A4B7-1453F9F7DF04}" type="presParOf" srcId="{EDA1585B-EE64-4F85-B5A1-3AF2FC4FA28E}" destId="{AF32EA37-0E0B-4642-81A7-6C8F73646551}" srcOrd="0" destOrd="0" presId="urn:microsoft.com/office/officeart/2016/7/layout/RepeatingBendingProcessNew"/>
    <dgm:cxn modelId="{68341062-E32F-4D53-8793-50EFF58A8611}" type="presParOf" srcId="{317170AE-AC76-4A1B-81A3-92528C6E630D}" destId="{55258D2A-8175-4BE7-99EC-8D9EC09B1D50}" srcOrd="8" destOrd="0" presId="urn:microsoft.com/office/officeart/2016/7/layout/RepeatingBendingProcessNew"/>
    <dgm:cxn modelId="{1C7A6053-7179-4CFE-AF04-72D5A88016B6}" type="presParOf" srcId="{317170AE-AC76-4A1B-81A3-92528C6E630D}" destId="{26C291D6-E345-4ADB-AC59-8C149C5EE1E0}" srcOrd="9" destOrd="0" presId="urn:microsoft.com/office/officeart/2016/7/layout/RepeatingBendingProcessNew"/>
    <dgm:cxn modelId="{4CBECB5F-3D5A-44F8-A91E-A338A8B60208}" type="presParOf" srcId="{26C291D6-E345-4ADB-AC59-8C149C5EE1E0}" destId="{BBFB33D4-3F3B-46C1-98CB-BB898B224065}" srcOrd="0" destOrd="0" presId="urn:microsoft.com/office/officeart/2016/7/layout/RepeatingBendingProcessNew"/>
    <dgm:cxn modelId="{D52F8E26-8C2B-49AB-961A-F543E51147E7}" type="presParOf" srcId="{317170AE-AC76-4A1B-81A3-92528C6E630D}" destId="{AE751B28-2839-4C98-9314-36B9AEB11ACA}" srcOrd="10" destOrd="0" presId="urn:microsoft.com/office/officeart/2016/7/layout/RepeatingBendingProcessNew"/>
    <dgm:cxn modelId="{947A4839-CD45-4A85-90E1-410ED713D340}" type="presParOf" srcId="{317170AE-AC76-4A1B-81A3-92528C6E630D}" destId="{AF581AD7-5D64-4324-9BEA-6133056E8FDE}" srcOrd="11" destOrd="0" presId="urn:microsoft.com/office/officeart/2016/7/layout/RepeatingBendingProcessNew"/>
    <dgm:cxn modelId="{DCF36D94-0751-4423-BD7F-FA983C982AE7}" type="presParOf" srcId="{AF581AD7-5D64-4324-9BEA-6133056E8FDE}" destId="{BE3A0D86-2610-45CE-80ED-921456B7E93C}" srcOrd="0" destOrd="0" presId="urn:microsoft.com/office/officeart/2016/7/layout/RepeatingBendingProcessNew"/>
    <dgm:cxn modelId="{9F06D40E-2985-4F99-A7E2-5979BFA5CD4B}" type="presParOf" srcId="{317170AE-AC76-4A1B-81A3-92528C6E630D}" destId="{D150F3C1-5303-4086-8A49-A92D70982CE5}" srcOrd="12" destOrd="0" presId="urn:microsoft.com/office/officeart/2016/7/layout/RepeatingBendingProcessNew"/>
    <dgm:cxn modelId="{0DA0E5BC-E272-4CBD-A974-DCCC61400C75}" type="presParOf" srcId="{317170AE-AC76-4A1B-81A3-92528C6E630D}" destId="{A580A160-5960-4617-828A-DB0C1EBA68BB}" srcOrd="13" destOrd="0" presId="urn:microsoft.com/office/officeart/2016/7/layout/RepeatingBendingProcessNew"/>
    <dgm:cxn modelId="{5B7C04C2-CF0E-4E87-9376-A5345F781B57}" type="presParOf" srcId="{A580A160-5960-4617-828A-DB0C1EBA68BB}" destId="{FC8944B2-0996-4896-91C5-40EDFB250225}" srcOrd="0" destOrd="0" presId="urn:microsoft.com/office/officeart/2016/7/layout/RepeatingBendingProcessNew"/>
    <dgm:cxn modelId="{C4B9BCE4-F0DD-4D40-9D2B-15D740478F57}" type="presParOf" srcId="{317170AE-AC76-4A1B-81A3-92528C6E630D}" destId="{B6D2D259-E2C3-47A4-ADF1-F97BD6A7FBB8}" srcOrd="14" destOrd="0" presId="urn:microsoft.com/office/officeart/2016/7/layout/RepeatingBendingProcessNew"/>
    <dgm:cxn modelId="{CEFB6E9A-83E5-4645-B0DF-FE6D3860900C}" type="presParOf" srcId="{317170AE-AC76-4A1B-81A3-92528C6E630D}" destId="{1C6F48BE-B61C-4929-B433-8DD683AD1081}" srcOrd="15" destOrd="0" presId="urn:microsoft.com/office/officeart/2016/7/layout/RepeatingBendingProcessNew"/>
    <dgm:cxn modelId="{310DC501-AA6E-4230-9BB0-DC90D302309D}" type="presParOf" srcId="{1C6F48BE-B61C-4929-B433-8DD683AD1081}" destId="{28A430BF-C210-4E52-9558-F555288051A2}" srcOrd="0" destOrd="0" presId="urn:microsoft.com/office/officeart/2016/7/layout/RepeatingBendingProcessNew"/>
    <dgm:cxn modelId="{922B7000-84DC-49E4-BD6D-6F04A8F26215}" type="presParOf" srcId="{317170AE-AC76-4A1B-81A3-92528C6E630D}" destId="{E8757B66-7F56-44A6-B440-221FA063B73A}" srcOrd="16" destOrd="0" presId="urn:microsoft.com/office/officeart/2016/7/layout/RepeatingBendingProcessNew"/>
    <dgm:cxn modelId="{3F0CCE4F-1992-420F-83E7-E67354B1EF81}" type="presParOf" srcId="{317170AE-AC76-4A1B-81A3-92528C6E630D}" destId="{8A1F291C-6CED-434C-896F-AF5EE00C4573}" srcOrd="17" destOrd="0" presId="urn:microsoft.com/office/officeart/2016/7/layout/RepeatingBendingProcessNew"/>
    <dgm:cxn modelId="{FAF4B787-5752-42BF-AE39-81919CB565C4}" type="presParOf" srcId="{8A1F291C-6CED-434C-896F-AF5EE00C4573}" destId="{B02A2C11-3BC0-43CD-80FF-47819EE1682B}" srcOrd="0" destOrd="0" presId="urn:microsoft.com/office/officeart/2016/7/layout/RepeatingBendingProcessNew"/>
    <dgm:cxn modelId="{1AF71E20-B53D-4520-9702-3017FDE64964}" type="presParOf" srcId="{317170AE-AC76-4A1B-81A3-92528C6E630D}" destId="{7A9575D4-1238-4301-9A65-2775D07597F0}" srcOrd="18" destOrd="0" presId="urn:microsoft.com/office/officeart/2016/7/layout/RepeatingBendingProcessNew"/>
    <dgm:cxn modelId="{67F47BA6-6CA9-4C57-A2C8-8156E681061A}" type="presParOf" srcId="{317170AE-AC76-4A1B-81A3-92528C6E630D}" destId="{8406FCB0-646D-4B54-9FB5-41D95ECB33E2}" srcOrd="19" destOrd="0" presId="urn:microsoft.com/office/officeart/2016/7/layout/RepeatingBendingProcessNew"/>
    <dgm:cxn modelId="{6DE9F832-4D80-4FFA-A16A-33AC0964B0F4}" type="presParOf" srcId="{8406FCB0-646D-4B54-9FB5-41D95ECB33E2}" destId="{90E010E3-8071-42D1-9AD8-19ACE0D07717}" srcOrd="0" destOrd="0" presId="urn:microsoft.com/office/officeart/2016/7/layout/RepeatingBendingProcessNew"/>
    <dgm:cxn modelId="{F945324E-6F1B-438F-9E3B-E69B2981007D}" type="presParOf" srcId="{317170AE-AC76-4A1B-81A3-92528C6E630D}" destId="{FC831BE2-03E6-47FE-B651-32FBBA9EB1CE}" srcOrd="2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882D9-44AD-497C-B748-7EADAFE23F1B}">
      <dsp:nvSpPr>
        <dsp:cNvPr id="0" name=""/>
        <dsp:cNvSpPr/>
      </dsp:nvSpPr>
      <dsp:spPr>
        <a:xfrm>
          <a:off x="7409" y="275436"/>
          <a:ext cx="2214682" cy="132880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CA" sz="2100" kern="1200" dirty="0"/>
            <a:t>Create a function that will return the Age Group based on the Age</a:t>
          </a:r>
        </a:p>
      </dsp:txBody>
      <dsp:txXfrm>
        <a:off x="46328" y="314355"/>
        <a:ext cx="2136844" cy="1250971"/>
      </dsp:txXfrm>
    </dsp:sp>
    <dsp:sp modelId="{5F151930-62A9-4A40-BE91-58B20E4BA8DD}">
      <dsp:nvSpPr>
        <dsp:cNvPr id="0" name=""/>
        <dsp:cNvSpPr/>
      </dsp:nvSpPr>
      <dsp:spPr>
        <a:xfrm>
          <a:off x="2443560" y="665220"/>
          <a:ext cx="469512" cy="5492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CA" sz="1700" kern="1200"/>
        </a:p>
      </dsp:txBody>
      <dsp:txXfrm>
        <a:off x="2443560" y="775068"/>
        <a:ext cx="328658" cy="329545"/>
      </dsp:txXfrm>
    </dsp:sp>
    <dsp:sp modelId="{FBA8F4D9-D17D-41E2-AFE7-833E6EFA7871}">
      <dsp:nvSpPr>
        <dsp:cNvPr id="0" name=""/>
        <dsp:cNvSpPr/>
      </dsp:nvSpPr>
      <dsp:spPr>
        <a:xfrm>
          <a:off x="3107965" y="275436"/>
          <a:ext cx="2214682" cy="132880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CA" sz="2100" kern="1200" dirty="0"/>
            <a:t>Apply the function to the Age column in the data frame</a:t>
          </a:r>
        </a:p>
      </dsp:txBody>
      <dsp:txXfrm>
        <a:off x="3146884" y="314355"/>
        <a:ext cx="2136844" cy="1250971"/>
      </dsp:txXfrm>
    </dsp:sp>
    <dsp:sp modelId="{1F632FDB-2CAD-4D31-B2E7-7642D87D6BDE}">
      <dsp:nvSpPr>
        <dsp:cNvPr id="0" name=""/>
        <dsp:cNvSpPr/>
      </dsp:nvSpPr>
      <dsp:spPr>
        <a:xfrm>
          <a:off x="5544116" y="665220"/>
          <a:ext cx="469512" cy="5492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CA" sz="1700" kern="1200"/>
        </a:p>
      </dsp:txBody>
      <dsp:txXfrm>
        <a:off x="5544116" y="775068"/>
        <a:ext cx="328658" cy="329545"/>
      </dsp:txXfrm>
    </dsp:sp>
    <dsp:sp modelId="{30E211C9-65A4-4FC3-9362-35874B66CE4B}">
      <dsp:nvSpPr>
        <dsp:cNvPr id="0" name=""/>
        <dsp:cNvSpPr/>
      </dsp:nvSpPr>
      <dsp:spPr>
        <a:xfrm>
          <a:off x="6208520" y="275436"/>
          <a:ext cx="2214682" cy="132880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CA" sz="2100" kern="1200" dirty="0"/>
            <a:t>Assign the result to a new data frame column named Age Group</a:t>
          </a:r>
        </a:p>
      </dsp:txBody>
      <dsp:txXfrm>
        <a:off x="6247439" y="314355"/>
        <a:ext cx="2136844" cy="12509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30874-53AA-40F7-9FAB-FE921AB49875}">
      <dsp:nvSpPr>
        <dsp:cNvPr id="0" name=""/>
        <dsp:cNvSpPr/>
      </dsp:nvSpPr>
      <dsp:spPr>
        <a:xfrm>
          <a:off x="2466793" y="489823"/>
          <a:ext cx="378361" cy="91440"/>
        </a:xfrm>
        <a:custGeom>
          <a:avLst/>
          <a:gdLst/>
          <a:ahLst/>
          <a:cxnLst/>
          <a:rect l="0" t="0" r="0" b="0"/>
          <a:pathLst>
            <a:path>
              <a:moveTo>
                <a:pt x="0" y="45720"/>
              </a:moveTo>
              <a:lnTo>
                <a:pt x="378361"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2645750" y="533496"/>
        <a:ext cx="20448" cy="4093"/>
      </dsp:txXfrm>
    </dsp:sp>
    <dsp:sp modelId="{AF619C67-527E-4C7A-BB70-6E17E8767CDA}">
      <dsp:nvSpPr>
        <dsp:cNvPr id="0" name=""/>
        <dsp:cNvSpPr/>
      </dsp:nvSpPr>
      <dsp:spPr>
        <a:xfrm>
          <a:off x="690498" y="2115"/>
          <a:ext cx="1778095" cy="1066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Import the world map JSON file to GeoJSON data source object</a:t>
          </a:r>
        </a:p>
      </dsp:txBody>
      <dsp:txXfrm>
        <a:off x="690498" y="2115"/>
        <a:ext cx="1778095" cy="1066857"/>
      </dsp:txXfrm>
    </dsp:sp>
    <dsp:sp modelId="{833B1045-FE94-4EAB-8E0A-8DBA61C6984E}">
      <dsp:nvSpPr>
        <dsp:cNvPr id="0" name=""/>
        <dsp:cNvSpPr/>
      </dsp:nvSpPr>
      <dsp:spPr>
        <a:xfrm>
          <a:off x="4653850" y="489823"/>
          <a:ext cx="378361" cy="91440"/>
        </a:xfrm>
        <a:custGeom>
          <a:avLst/>
          <a:gdLst/>
          <a:ahLst/>
          <a:cxnLst/>
          <a:rect l="0" t="0" r="0" b="0"/>
          <a:pathLst>
            <a:path>
              <a:moveTo>
                <a:pt x="0" y="45720"/>
              </a:moveTo>
              <a:lnTo>
                <a:pt x="378361" y="45720"/>
              </a:lnTo>
            </a:path>
          </a:pathLst>
        </a:custGeom>
        <a:noFill/>
        <a:ln w="9525" cap="flat" cmpd="sng" algn="ctr">
          <a:solidFill>
            <a:schemeClr val="accent3">
              <a:hueOff val="656021"/>
              <a:satOff val="-5117"/>
              <a:lumOff val="-13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4832806" y="533496"/>
        <a:ext cx="20448" cy="4093"/>
      </dsp:txXfrm>
    </dsp:sp>
    <dsp:sp modelId="{72A6F61B-19F6-445F-B603-C41DEDB27617}">
      <dsp:nvSpPr>
        <dsp:cNvPr id="0" name=""/>
        <dsp:cNvSpPr/>
      </dsp:nvSpPr>
      <dsp:spPr>
        <a:xfrm>
          <a:off x="2877555" y="2115"/>
          <a:ext cx="1778095" cy="1066857"/>
        </a:xfrm>
        <a:prstGeom prst="rect">
          <a:avLst/>
        </a:prstGeom>
        <a:solidFill>
          <a:schemeClr val="accent3">
            <a:hueOff val="590419"/>
            <a:satOff val="-4605"/>
            <a:lumOff val="-11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Group the data frame by Country</a:t>
          </a:r>
        </a:p>
      </dsp:txBody>
      <dsp:txXfrm>
        <a:off x="2877555" y="2115"/>
        <a:ext cx="1778095" cy="1066857"/>
      </dsp:txXfrm>
    </dsp:sp>
    <dsp:sp modelId="{622D2A70-4A0D-4C91-91C4-47240F85610D}">
      <dsp:nvSpPr>
        <dsp:cNvPr id="0" name=""/>
        <dsp:cNvSpPr/>
      </dsp:nvSpPr>
      <dsp:spPr>
        <a:xfrm>
          <a:off x="6840906" y="489823"/>
          <a:ext cx="378361" cy="91440"/>
        </a:xfrm>
        <a:custGeom>
          <a:avLst/>
          <a:gdLst/>
          <a:ahLst/>
          <a:cxnLst/>
          <a:rect l="0" t="0" r="0" b="0"/>
          <a:pathLst>
            <a:path>
              <a:moveTo>
                <a:pt x="0" y="45720"/>
              </a:moveTo>
              <a:lnTo>
                <a:pt x="378361" y="45720"/>
              </a:lnTo>
            </a:path>
          </a:pathLst>
        </a:custGeom>
        <a:noFill/>
        <a:ln w="9525" cap="flat" cmpd="sng" algn="ctr">
          <a:solidFill>
            <a:schemeClr val="accent3">
              <a:hueOff val="1312042"/>
              <a:satOff val="-10234"/>
              <a:lumOff val="-26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7019863" y="533496"/>
        <a:ext cx="20448" cy="4093"/>
      </dsp:txXfrm>
    </dsp:sp>
    <dsp:sp modelId="{4125C49D-280E-44FC-9D4B-82D6E7AC876F}">
      <dsp:nvSpPr>
        <dsp:cNvPr id="0" name=""/>
        <dsp:cNvSpPr/>
      </dsp:nvSpPr>
      <dsp:spPr>
        <a:xfrm>
          <a:off x="5064611" y="2115"/>
          <a:ext cx="1778095" cy="1066857"/>
        </a:xfrm>
        <a:prstGeom prst="rect">
          <a:avLst/>
        </a:prstGeom>
        <a:solidFill>
          <a:schemeClr val="accent3">
            <a:hueOff val="1180837"/>
            <a:satOff val="-9211"/>
            <a:lumOff val="-23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Prepare the Data. Rename USA and UK to their full name</a:t>
          </a:r>
        </a:p>
      </dsp:txBody>
      <dsp:txXfrm>
        <a:off x="5064611" y="2115"/>
        <a:ext cx="1778095" cy="1066857"/>
      </dsp:txXfrm>
    </dsp:sp>
    <dsp:sp modelId="{EDA1585B-EE64-4F85-B5A1-3AF2FC4FA28E}">
      <dsp:nvSpPr>
        <dsp:cNvPr id="0" name=""/>
        <dsp:cNvSpPr/>
      </dsp:nvSpPr>
      <dsp:spPr>
        <a:xfrm>
          <a:off x="1579545" y="1067172"/>
          <a:ext cx="6561170" cy="378361"/>
        </a:xfrm>
        <a:custGeom>
          <a:avLst/>
          <a:gdLst/>
          <a:ahLst/>
          <a:cxnLst/>
          <a:rect l="0" t="0" r="0" b="0"/>
          <a:pathLst>
            <a:path>
              <a:moveTo>
                <a:pt x="6561170" y="0"/>
              </a:moveTo>
              <a:lnTo>
                <a:pt x="6561170" y="206280"/>
              </a:lnTo>
              <a:lnTo>
                <a:pt x="0" y="206280"/>
              </a:lnTo>
              <a:lnTo>
                <a:pt x="0" y="378361"/>
              </a:lnTo>
            </a:path>
          </a:pathLst>
        </a:custGeom>
        <a:noFill/>
        <a:ln w="9525" cap="flat" cmpd="sng" algn="ctr">
          <a:solidFill>
            <a:schemeClr val="accent3">
              <a:hueOff val="1968062"/>
              <a:satOff val="-15351"/>
              <a:lumOff val="-39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4695783" y="1254306"/>
        <a:ext cx="328695" cy="4093"/>
      </dsp:txXfrm>
    </dsp:sp>
    <dsp:sp modelId="{FEB32394-3F32-4734-A0C1-FD8D0B6A012B}">
      <dsp:nvSpPr>
        <dsp:cNvPr id="0" name=""/>
        <dsp:cNvSpPr/>
      </dsp:nvSpPr>
      <dsp:spPr>
        <a:xfrm>
          <a:off x="7251668" y="2115"/>
          <a:ext cx="1778095" cy="1066857"/>
        </a:xfrm>
        <a:prstGeom prst="rect">
          <a:avLst/>
        </a:prstGeom>
        <a:solidFill>
          <a:schemeClr val="accent3">
            <a:hueOff val="1771256"/>
            <a:satOff val="-13816"/>
            <a:lumOff val="-35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dirty="0"/>
            <a:t>Using the group object, get the mean of the </a:t>
          </a:r>
          <a:r>
            <a:rPr lang="en-CA" sz="1200" kern="1200" dirty="0" err="1"/>
            <a:t>Caffeine_mg</a:t>
          </a:r>
          <a:r>
            <a:rPr lang="en-CA" sz="1200" kern="1200" dirty="0"/>
            <a:t> column in ascending order</a:t>
          </a:r>
        </a:p>
      </dsp:txBody>
      <dsp:txXfrm>
        <a:off x="7251668" y="2115"/>
        <a:ext cx="1778095" cy="1066857"/>
      </dsp:txXfrm>
    </dsp:sp>
    <dsp:sp modelId="{26C291D6-E345-4ADB-AC59-8C149C5EE1E0}">
      <dsp:nvSpPr>
        <dsp:cNvPr id="0" name=""/>
        <dsp:cNvSpPr/>
      </dsp:nvSpPr>
      <dsp:spPr>
        <a:xfrm>
          <a:off x="2466793" y="1965642"/>
          <a:ext cx="378361" cy="91440"/>
        </a:xfrm>
        <a:custGeom>
          <a:avLst/>
          <a:gdLst/>
          <a:ahLst/>
          <a:cxnLst/>
          <a:rect l="0" t="0" r="0" b="0"/>
          <a:pathLst>
            <a:path>
              <a:moveTo>
                <a:pt x="0" y="45720"/>
              </a:moveTo>
              <a:lnTo>
                <a:pt x="378361" y="45720"/>
              </a:lnTo>
            </a:path>
          </a:pathLst>
        </a:custGeom>
        <a:noFill/>
        <a:ln w="9525" cap="flat" cmpd="sng" algn="ctr">
          <a:solidFill>
            <a:schemeClr val="accent3">
              <a:hueOff val="2624083"/>
              <a:satOff val="-20468"/>
              <a:lumOff val="-52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2645750" y="2009315"/>
        <a:ext cx="20448" cy="4093"/>
      </dsp:txXfrm>
    </dsp:sp>
    <dsp:sp modelId="{55258D2A-8175-4BE7-99EC-8D9EC09B1D50}">
      <dsp:nvSpPr>
        <dsp:cNvPr id="0" name=""/>
        <dsp:cNvSpPr/>
      </dsp:nvSpPr>
      <dsp:spPr>
        <a:xfrm>
          <a:off x="690498" y="1477933"/>
          <a:ext cx="1778095" cy="1066857"/>
        </a:xfrm>
        <a:prstGeom prst="rect">
          <a:avLst/>
        </a:prstGeom>
        <a:solidFill>
          <a:schemeClr val="accent3">
            <a:hueOff val="2361675"/>
            <a:satOff val="-18422"/>
            <a:lumOff val="-47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Getting the mean will create a new data frame containing the Country as the index and the mean of Caffeine_mg of each Country</a:t>
          </a:r>
        </a:p>
      </dsp:txBody>
      <dsp:txXfrm>
        <a:off x="690498" y="1477933"/>
        <a:ext cx="1778095" cy="1066857"/>
      </dsp:txXfrm>
    </dsp:sp>
    <dsp:sp modelId="{AF581AD7-5D64-4324-9BEA-6133056E8FDE}">
      <dsp:nvSpPr>
        <dsp:cNvPr id="0" name=""/>
        <dsp:cNvSpPr/>
      </dsp:nvSpPr>
      <dsp:spPr>
        <a:xfrm>
          <a:off x="4653850" y="1965642"/>
          <a:ext cx="378361" cy="91440"/>
        </a:xfrm>
        <a:custGeom>
          <a:avLst/>
          <a:gdLst/>
          <a:ahLst/>
          <a:cxnLst/>
          <a:rect l="0" t="0" r="0" b="0"/>
          <a:pathLst>
            <a:path>
              <a:moveTo>
                <a:pt x="0" y="45720"/>
              </a:moveTo>
              <a:lnTo>
                <a:pt x="378361" y="45720"/>
              </a:lnTo>
            </a:path>
          </a:pathLst>
        </a:custGeom>
        <a:noFill/>
        <a:ln w="9525" cap="flat" cmpd="sng" algn="ctr">
          <a:solidFill>
            <a:schemeClr val="accent3">
              <a:hueOff val="3280104"/>
              <a:satOff val="-25586"/>
              <a:lumOff val="-65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4832806" y="2009315"/>
        <a:ext cx="20448" cy="4093"/>
      </dsp:txXfrm>
    </dsp:sp>
    <dsp:sp modelId="{AE751B28-2839-4C98-9314-36B9AEB11ACA}">
      <dsp:nvSpPr>
        <dsp:cNvPr id="0" name=""/>
        <dsp:cNvSpPr/>
      </dsp:nvSpPr>
      <dsp:spPr>
        <a:xfrm>
          <a:off x="2877555" y="1477933"/>
          <a:ext cx="1778095" cy="1066857"/>
        </a:xfrm>
        <a:prstGeom prst="rect">
          <a:avLst/>
        </a:prstGeom>
        <a:solidFill>
          <a:schemeClr val="accent3">
            <a:hueOff val="2952094"/>
            <a:satOff val="-23027"/>
            <a:lumOff val="-58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Create a function that will give us a color where its lightness or darkness will depend on a supplied parameter</a:t>
          </a:r>
        </a:p>
      </dsp:txBody>
      <dsp:txXfrm>
        <a:off x="2877555" y="1477933"/>
        <a:ext cx="1778095" cy="1066857"/>
      </dsp:txXfrm>
    </dsp:sp>
    <dsp:sp modelId="{A580A160-5960-4617-828A-DB0C1EBA68BB}">
      <dsp:nvSpPr>
        <dsp:cNvPr id="0" name=""/>
        <dsp:cNvSpPr/>
      </dsp:nvSpPr>
      <dsp:spPr>
        <a:xfrm>
          <a:off x="6840906" y="1965642"/>
          <a:ext cx="378361" cy="91440"/>
        </a:xfrm>
        <a:custGeom>
          <a:avLst/>
          <a:gdLst/>
          <a:ahLst/>
          <a:cxnLst/>
          <a:rect l="0" t="0" r="0" b="0"/>
          <a:pathLst>
            <a:path>
              <a:moveTo>
                <a:pt x="0" y="45720"/>
              </a:moveTo>
              <a:lnTo>
                <a:pt x="378361" y="45720"/>
              </a:lnTo>
            </a:path>
          </a:pathLst>
        </a:custGeom>
        <a:noFill/>
        <a:ln w="9525" cap="flat" cmpd="sng" algn="ctr">
          <a:solidFill>
            <a:schemeClr val="accent3">
              <a:hueOff val="3936125"/>
              <a:satOff val="-30703"/>
              <a:lumOff val="-78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7019863" y="2009315"/>
        <a:ext cx="20448" cy="4093"/>
      </dsp:txXfrm>
    </dsp:sp>
    <dsp:sp modelId="{D150F3C1-5303-4086-8A49-A92D70982CE5}">
      <dsp:nvSpPr>
        <dsp:cNvPr id="0" name=""/>
        <dsp:cNvSpPr/>
      </dsp:nvSpPr>
      <dsp:spPr>
        <a:xfrm>
          <a:off x="5064611" y="1477933"/>
          <a:ext cx="1778095" cy="1066857"/>
        </a:xfrm>
        <a:prstGeom prst="rect">
          <a:avLst/>
        </a:prstGeom>
        <a:solidFill>
          <a:schemeClr val="accent3">
            <a:hueOff val="3542512"/>
            <a:satOff val="-27632"/>
            <a:lumOff val="-70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Add a column in the mean data frame that will contain the color of the Country using the new function</a:t>
          </a:r>
        </a:p>
      </dsp:txBody>
      <dsp:txXfrm>
        <a:off x="5064611" y="1477933"/>
        <a:ext cx="1778095" cy="1066857"/>
      </dsp:txXfrm>
    </dsp:sp>
    <dsp:sp modelId="{1C6F48BE-B61C-4929-B433-8DD683AD1081}">
      <dsp:nvSpPr>
        <dsp:cNvPr id="0" name=""/>
        <dsp:cNvSpPr/>
      </dsp:nvSpPr>
      <dsp:spPr>
        <a:xfrm>
          <a:off x="1579545" y="2542991"/>
          <a:ext cx="6561170" cy="378361"/>
        </a:xfrm>
        <a:custGeom>
          <a:avLst/>
          <a:gdLst/>
          <a:ahLst/>
          <a:cxnLst/>
          <a:rect l="0" t="0" r="0" b="0"/>
          <a:pathLst>
            <a:path>
              <a:moveTo>
                <a:pt x="6561170" y="0"/>
              </a:moveTo>
              <a:lnTo>
                <a:pt x="6561170" y="206280"/>
              </a:lnTo>
              <a:lnTo>
                <a:pt x="0" y="206280"/>
              </a:lnTo>
              <a:lnTo>
                <a:pt x="0" y="378361"/>
              </a:lnTo>
            </a:path>
          </a:pathLst>
        </a:custGeom>
        <a:noFill/>
        <a:ln w="9525" cap="flat" cmpd="sng" algn="ctr">
          <a:solidFill>
            <a:schemeClr val="accent3">
              <a:hueOff val="4592146"/>
              <a:satOff val="-35820"/>
              <a:lumOff val="-91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4695783" y="2730125"/>
        <a:ext cx="328695" cy="4093"/>
      </dsp:txXfrm>
    </dsp:sp>
    <dsp:sp modelId="{B6D2D259-E2C3-47A4-ADF1-F97BD6A7FBB8}">
      <dsp:nvSpPr>
        <dsp:cNvPr id="0" name=""/>
        <dsp:cNvSpPr/>
      </dsp:nvSpPr>
      <dsp:spPr>
        <a:xfrm>
          <a:off x="7251668" y="1477933"/>
          <a:ext cx="1778095" cy="1066857"/>
        </a:xfrm>
        <a:prstGeom prst="rect">
          <a:avLst/>
        </a:prstGeom>
        <a:solidFill>
          <a:schemeClr val="accent3">
            <a:hueOff val="4132931"/>
            <a:satOff val="-32238"/>
            <a:lumOff val="-82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Add a column in the mean data frame that will determine its ranking/order based on the mean</a:t>
          </a:r>
        </a:p>
      </dsp:txBody>
      <dsp:txXfrm>
        <a:off x="7251668" y="1477933"/>
        <a:ext cx="1778095" cy="1066857"/>
      </dsp:txXfrm>
    </dsp:sp>
    <dsp:sp modelId="{8A1F291C-6CED-434C-896F-AF5EE00C4573}">
      <dsp:nvSpPr>
        <dsp:cNvPr id="0" name=""/>
        <dsp:cNvSpPr/>
      </dsp:nvSpPr>
      <dsp:spPr>
        <a:xfrm>
          <a:off x="2466793" y="3441461"/>
          <a:ext cx="378361" cy="91440"/>
        </a:xfrm>
        <a:custGeom>
          <a:avLst/>
          <a:gdLst/>
          <a:ahLst/>
          <a:cxnLst/>
          <a:rect l="0" t="0" r="0" b="0"/>
          <a:pathLst>
            <a:path>
              <a:moveTo>
                <a:pt x="0" y="45720"/>
              </a:moveTo>
              <a:lnTo>
                <a:pt x="378361" y="45720"/>
              </a:lnTo>
            </a:path>
          </a:pathLst>
        </a:custGeom>
        <a:noFill/>
        <a:ln w="9525" cap="flat" cmpd="sng" algn="ctr">
          <a:solidFill>
            <a:schemeClr val="accent3">
              <a:hueOff val="5248167"/>
              <a:satOff val="-40937"/>
              <a:lumOff val="-104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2645750" y="3485134"/>
        <a:ext cx="20448" cy="4093"/>
      </dsp:txXfrm>
    </dsp:sp>
    <dsp:sp modelId="{E8757B66-7F56-44A6-B440-221FA063B73A}">
      <dsp:nvSpPr>
        <dsp:cNvPr id="0" name=""/>
        <dsp:cNvSpPr/>
      </dsp:nvSpPr>
      <dsp:spPr>
        <a:xfrm>
          <a:off x="690498" y="2953752"/>
          <a:ext cx="1778095" cy="1066857"/>
        </a:xfrm>
        <a:prstGeom prst="rect">
          <a:avLst/>
        </a:prstGeom>
        <a:solidFill>
          <a:schemeClr val="accent3">
            <a:hueOff val="4723350"/>
            <a:satOff val="-36843"/>
            <a:lumOff val="-94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Update Geo JSON properties to add new properties for color, rank and the mean</a:t>
          </a:r>
        </a:p>
      </dsp:txBody>
      <dsp:txXfrm>
        <a:off x="690498" y="2953752"/>
        <a:ext cx="1778095" cy="1066857"/>
      </dsp:txXfrm>
    </dsp:sp>
    <dsp:sp modelId="{8406FCB0-646D-4B54-9FB5-41D95ECB33E2}">
      <dsp:nvSpPr>
        <dsp:cNvPr id="0" name=""/>
        <dsp:cNvSpPr/>
      </dsp:nvSpPr>
      <dsp:spPr>
        <a:xfrm>
          <a:off x="4653850" y="3441461"/>
          <a:ext cx="378361" cy="91440"/>
        </a:xfrm>
        <a:custGeom>
          <a:avLst/>
          <a:gdLst/>
          <a:ahLst/>
          <a:cxnLst/>
          <a:rect l="0" t="0" r="0" b="0"/>
          <a:pathLst>
            <a:path>
              <a:moveTo>
                <a:pt x="0" y="45720"/>
              </a:moveTo>
              <a:lnTo>
                <a:pt x="378361" y="45720"/>
              </a:lnTo>
            </a:path>
          </a:pathLst>
        </a:custGeom>
        <a:noFill/>
        <a:ln w="9525" cap="flat" cmpd="sng" algn="ctr">
          <a:solidFill>
            <a:schemeClr val="accent3">
              <a:hueOff val="5904187"/>
              <a:satOff val="-46054"/>
              <a:lumOff val="-1177"/>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4832806" y="3485134"/>
        <a:ext cx="20448" cy="4093"/>
      </dsp:txXfrm>
    </dsp:sp>
    <dsp:sp modelId="{7A9575D4-1238-4301-9A65-2775D07597F0}">
      <dsp:nvSpPr>
        <dsp:cNvPr id="0" name=""/>
        <dsp:cNvSpPr/>
      </dsp:nvSpPr>
      <dsp:spPr>
        <a:xfrm>
          <a:off x="2877555" y="2953752"/>
          <a:ext cx="1778095" cy="1066857"/>
        </a:xfrm>
        <a:prstGeom prst="rect">
          <a:avLst/>
        </a:prstGeom>
        <a:solidFill>
          <a:schemeClr val="accent3">
            <a:hueOff val="5313768"/>
            <a:satOff val="-41449"/>
            <a:lumOff val="-105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a:t>Create the Bokeh figure and add tooltips displaying the Country name, rank, and the mean</a:t>
          </a:r>
        </a:p>
      </dsp:txBody>
      <dsp:txXfrm>
        <a:off x="2877555" y="2953752"/>
        <a:ext cx="1778095" cy="1066857"/>
      </dsp:txXfrm>
    </dsp:sp>
    <dsp:sp modelId="{FC831BE2-03E6-47FE-B651-32FBBA9EB1CE}">
      <dsp:nvSpPr>
        <dsp:cNvPr id="0" name=""/>
        <dsp:cNvSpPr/>
      </dsp:nvSpPr>
      <dsp:spPr>
        <a:xfrm>
          <a:off x="5064611" y="2953752"/>
          <a:ext cx="1778095" cy="1066857"/>
        </a:xfrm>
        <a:prstGeom prst="rect">
          <a:avLst/>
        </a:prstGeom>
        <a:solidFill>
          <a:schemeClr val="accent3">
            <a:hueOff val="5904187"/>
            <a:satOff val="-46054"/>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128" tIns="91456" rIns="87128" bIns="91456" numCol="1" spcCol="1270" anchor="ctr" anchorCtr="0">
          <a:noAutofit/>
        </a:bodyPr>
        <a:lstStyle/>
        <a:p>
          <a:pPr marL="0" lvl="0" indent="0" algn="ctr" defTabSz="533400">
            <a:lnSpc>
              <a:spcPct val="90000"/>
            </a:lnSpc>
            <a:spcBef>
              <a:spcPct val="0"/>
            </a:spcBef>
            <a:spcAft>
              <a:spcPct val="35000"/>
            </a:spcAft>
            <a:buNone/>
          </a:pPr>
          <a:r>
            <a:rPr lang="en-CA" sz="1200" kern="1200" dirty="0"/>
            <a:t>Show the map figure</a:t>
          </a:r>
        </a:p>
      </dsp:txBody>
      <dsp:txXfrm>
        <a:off x="5064611" y="2953752"/>
        <a:ext cx="1778095" cy="106685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290E50-D3EA-4329-AA5F-AF5A5C575D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6112D18-5CEB-46F3-924F-E35464AAA3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35D1AD-E24C-4E82-BC85-28527A42DCE7}" type="datetimeFigureOut">
              <a:rPr lang="en-US" smtClean="0"/>
              <a:t>11/15/2025</a:t>
            </a:fld>
            <a:endParaRPr lang="en-US" dirty="0"/>
          </a:p>
        </p:txBody>
      </p:sp>
      <p:sp>
        <p:nvSpPr>
          <p:cNvPr id="4" name="Footer Placeholder 3">
            <a:extLst>
              <a:ext uri="{FF2B5EF4-FFF2-40B4-BE49-F238E27FC236}">
                <a16:creationId xmlns:a16="http://schemas.microsoft.com/office/drawing/2014/main" id="{EB8FC0ED-2712-4B69-9F16-123F02DBF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2CBD00C-2269-4424-828A-8D893B5226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0B3793-D85E-4082-925C-FAA1A2B27276}" type="slidenum">
              <a:rPr lang="en-US" smtClean="0"/>
              <a:t>‹#›</a:t>
            </a:fld>
            <a:endParaRPr lang="en-US" dirty="0"/>
          </a:p>
        </p:txBody>
      </p:sp>
    </p:spTree>
    <p:extLst>
      <p:ext uri="{BB962C8B-B14F-4D97-AF65-F5344CB8AC3E}">
        <p14:creationId xmlns:p14="http://schemas.microsoft.com/office/powerpoint/2010/main" val="22338639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5EA34-3951-4B6D-8DDD-B157CE00471C}" type="datetimeFigureOut">
              <a:rPr lang="en-US" smtClean="0"/>
              <a:t>11/15/2025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3E965-974B-498D-B360-83DD1F9DEB55}" type="slidenum">
              <a:rPr lang="en-US" smtClean="0"/>
              <a:t>‹#›</a:t>
            </a:fld>
            <a:endParaRPr lang="en-US" dirty="0"/>
          </a:p>
        </p:txBody>
      </p:sp>
    </p:spTree>
    <p:extLst>
      <p:ext uri="{BB962C8B-B14F-4D97-AF65-F5344CB8AC3E}">
        <p14:creationId xmlns:p14="http://schemas.microsoft.com/office/powerpoint/2010/main" val="23836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Hi everyone,</a:t>
            </a:r>
          </a:p>
          <a:p>
            <a:r>
              <a:rPr lang="en-CA" dirty="0"/>
              <a:t>My name is Angelo Ramirez and I am here to present to you my Capstone #2 as part of the M2M Tech Data Talent Program in Cohort 18.</a:t>
            </a:r>
          </a:p>
        </p:txBody>
      </p:sp>
      <p:sp>
        <p:nvSpPr>
          <p:cNvPr id="4" name="Slide Number Placeholder 3"/>
          <p:cNvSpPr>
            <a:spLocks noGrp="1"/>
          </p:cNvSpPr>
          <p:nvPr>
            <p:ph type="sldNum" sz="quarter" idx="5"/>
          </p:nvPr>
        </p:nvSpPr>
        <p:spPr/>
        <p:txBody>
          <a:bodyPr/>
          <a:lstStyle/>
          <a:p>
            <a:fld id="{4AB3E965-974B-498D-B360-83DD1F9DEB55}" type="slidenum">
              <a:rPr lang="en-US" smtClean="0"/>
              <a:t>1</a:t>
            </a:fld>
            <a:endParaRPr lang="en-US" dirty="0"/>
          </a:p>
        </p:txBody>
      </p:sp>
    </p:spTree>
    <p:extLst>
      <p:ext uri="{BB962C8B-B14F-4D97-AF65-F5344CB8AC3E}">
        <p14:creationId xmlns:p14="http://schemas.microsoft.com/office/powerpoint/2010/main" val="3166415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My Second Capstone project will focus on using advanced visualization using a data set named Global Coffee Health. Note that this dataset contains synthetic records, meaning the records are reflecting real-world data </a:t>
            </a:r>
            <a:r>
              <a:rPr lang="en-US" dirty="0"/>
              <a:t>but contain no actual personally identifiable 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Objective …</a:t>
            </a:r>
            <a:endParaRPr lang="en-CA" dirty="0"/>
          </a:p>
          <a:p>
            <a:endParaRPr lang="en-CA" dirty="0"/>
          </a:p>
          <a:p>
            <a:r>
              <a:rPr lang="en-CA" dirty="0"/>
              <a:t>All of these objectives will be coded using a Google </a:t>
            </a:r>
            <a:r>
              <a:rPr lang="en-CA" dirty="0" err="1"/>
              <a:t>Colab</a:t>
            </a:r>
            <a:r>
              <a:rPr lang="en-CA" dirty="0"/>
              <a:t> Python notebook, and in the notebook we will be using open source libraries like Pandas for data manipulation and Bokeh for visualization</a:t>
            </a:r>
          </a:p>
        </p:txBody>
      </p:sp>
      <p:sp>
        <p:nvSpPr>
          <p:cNvPr id="4" name="Slide Number Placeholder 3"/>
          <p:cNvSpPr>
            <a:spLocks noGrp="1"/>
          </p:cNvSpPr>
          <p:nvPr>
            <p:ph type="sldNum" sz="quarter" idx="5"/>
          </p:nvPr>
        </p:nvSpPr>
        <p:spPr/>
        <p:txBody>
          <a:bodyPr/>
          <a:lstStyle/>
          <a:p>
            <a:fld id="{4AB3E965-974B-498D-B360-83DD1F9DEB55}" type="slidenum">
              <a:rPr lang="en-US" smtClean="0"/>
              <a:t>2</a:t>
            </a:fld>
            <a:endParaRPr lang="en-US" dirty="0"/>
          </a:p>
        </p:txBody>
      </p:sp>
    </p:spTree>
    <p:extLst>
      <p:ext uri="{BB962C8B-B14F-4D97-AF65-F5344CB8AC3E}">
        <p14:creationId xmlns:p14="http://schemas.microsoft.com/office/powerpoint/2010/main" val="3551486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F5E0-F772-634D-16A9-4157A2D2E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76B8C-BF5E-BC9C-F2D6-A9B624308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0C817-2507-6332-DFB0-1814F980B43E}"/>
              </a:ext>
            </a:extLst>
          </p:cNvPr>
          <p:cNvSpPr>
            <a:spLocks noGrp="1"/>
          </p:cNvSpPr>
          <p:nvPr>
            <p:ph type="body" idx="1"/>
          </p:nvPr>
        </p:nvSpPr>
        <p:spPr/>
        <p:txBody>
          <a:bodyPr/>
          <a:lstStyle/>
          <a:p>
            <a:r>
              <a:rPr lang="en-US" dirty="0"/>
              <a:t>Now to give you a quick overview of our dataset</a:t>
            </a:r>
          </a:p>
          <a:p>
            <a:endParaRPr lang="en-US" dirty="0"/>
          </a:p>
          <a:p>
            <a:r>
              <a:rPr lang="en-US" dirty="0"/>
              <a:t>Our Global Coffee Health data set came from a website named Kaggle. The data set consists of 10,000 records with 15 columns.</a:t>
            </a:r>
          </a:p>
        </p:txBody>
      </p:sp>
      <p:sp>
        <p:nvSpPr>
          <p:cNvPr id="4" name="Slide Number Placeholder 3">
            <a:extLst>
              <a:ext uri="{FF2B5EF4-FFF2-40B4-BE49-F238E27FC236}">
                <a16:creationId xmlns:a16="http://schemas.microsoft.com/office/drawing/2014/main" id="{19887C7D-B11D-53DD-73E4-698B45EC2FD7}"/>
              </a:ext>
            </a:extLst>
          </p:cNvPr>
          <p:cNvSpPr>
            <a:spLocks noGrp="1"/>
          </p:cNvSpPr>
          <p:nvPr>
            <p:ph type="sldNum" sz="quarter" idx="5"/>
          </p:nvPr>
        </p:nvSpPr>
        <p:spPr/>
        <p:txBody>
          <a:bodyPr/>
          <a:lstStyle/>
          <a:p>
            <a:fld id="{4AB3E965-974B-498D-B360-83DD1F9DEB55}" type="slidenum">
              <a:rPr lang="en-US" smtClean="0"/>
              <a:t>3</a:t>
            </a:fld>
            <a:endParaRPr lang="en-US" dirty="0"/>
          </a:p>
        </p:txBody>
      </p:sp>
    </p:spTree>
    <p:extLst>
      <p:ext uri="{BB962C8B-B14F-4D97-AF65-F5344CB8AC3E}">
        <p14:creationId xmlns:p14="http://schemas.microsoft.com/office/powerpoint/2010/main" val="1854266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FC787-1EA9-BE24-890D-587DEBE7A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6BAA3-7150-5656-93C4-55FF863FD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DD916-4DCC-88A6-F7C4-386DD583B811}"/>
              </a:ext>
            </a:extLst>
          </p:cNvPr>
          <p:cNvSpPr>
            <a:spLocks noGrp="1"/>
          </p:cNvSpPr>
          <p:nvPr>
            <p:ph type="body" idx="1"/>
          </p:nvPr>
        </p:nvSpPr>
        <p:spPr/>
        <p:txBody>
          <a:bodyPr/>
          <a:lstStyle/>
          <a:p>
            <a:r>
              <a:rPr lang="en-US" dirty="0"/>
              <a:t>In our advanced visualization, we will be utilizing the columns “</a:t>
            </a:r>
            <a:r>
              <a:rPr lang="en-US" dirty="0" err="1"/>
              <a:t>Caffeine_Intake</a:t>
            </a:r>
            <a:r>
              <a:rPr lang="en-US" dirty="0"/>
              <a:t>” in milligrams, the Age, the Country and the “Health Issues” column which is a categorical column that can have 4 values namely None, Mild, Moderate and Severe.</a:t>
            </a:r>
          </a:p>
          <a:p>
            <a:endParaRPr lang="en-US" dirty="0"/>
          </a:p>
          <a:p>
            <a:endParaRPr lang="en-US" dirty="0"/>
          </a:p>
        </p:txBody>
      </p:sp>
      <p:sp>
        <p:nvSpPr>
          <p:cNvPr id="4" name="Slide Number Placeholder 3">
            <a:extLst>
              <a:ext uri="{FF2B5EF4-FFF2-40B4-BE49-F238E27FC236}">
                <a16:creationId xmlns:a16="http://schemas.microsoft.com/office/drawing/2014/main" id="{CD90F9CC-2EC9-7AF5-F8DE-720B55CA8D6B}"/>
              </a:ext>
            </a:extLst>
          </p:cNvPr>
          <p:cNvSpPr>
            <a:spLocks noGrp="1"/>
          </p:cNvSpPr>
          <p:nvPr>
            <p:ph type="sldNum" sz="quarter" idx="5"/>
          </p:nvPr>
        </p:nvSpPr>
        <p:spPr/>
        <p:txBody>
          <a:bodyPr/>
          <a:lstStyle/>
          <a:p>
            <a:fld id="{4AB3E965-974B-498D-B360-83DD1F9DEB55}" type="slidenum">
              <a:rPr lang="en-US" smtClean="0"/>
              <a:t>4</a:t>
            </a:fld>
            <a:endParaRPr lang="en-US" dirty="0"/>
          </a:p>
        </p:txBody>
      </p:sp>
    </p:spTree>
    <p:extLst>
      <p:ext uri="{BB962C8B-B14F-4D97-AF65-F5344CB8AC3E}">
        <p14:creationId xmlns:p14="http://schemas.microsoft.com/office/powerpoint/2010/main" val="1342347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05C12-06C0-EEA3-E188-0A3BAD811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95C47-1F38-7E04-93AC-EC74E4C1C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ABBBDA-09C3-DDDC-E722-2A8434BFBB94}"/>
              </a:ext>
            </a:extLst>
          </p:cNvPr>
          <p:cNvSpPr>
            <a:spLocks noGrp="1"/>
          </p:cNvSpPr>
          <p:nvPr>
            <p:ph type="body" idx="1"/>
          </p:nvPr>
        </p:nvSpPr>
        <p:spPr/>
        <p:txBody>
          <a:bodyPr/>
          <a:lstStyle/>
          <a:p>
            <a:r>
              <a:rPr lang="en-US" dirty="0"/>
              <a:t>Our first visualization’s goal is to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t>The plot pie on the right shows an overview of the count of each Health Issue category in our data set. And as we can see, it is heavily biased on two categories compared to the rest.</a:t>
            </a:r>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BFF3AC3-B5D5-AD40-C689-D3275CEFFA6D}"/>
              </a:ext>
            </a:extLst>
          </p:cNvPr>
          <p:cNvSpPr>
            <a:spLocks noGrp="1"/>
          </p:cNvSpPr>
          <p:nvPr>
            <p:ph type="sldNum" sz="quarter" idx="5"/>
          </p:nvPr>
        </p:nvSpPr>
        <p:spPr/>
        <p:txBody>
          <a:bodyPr/>
          <a:lstStyle/>
          <a:p>
            <a:fld id="{4AB3E965-974B-498D-B360-83DD1F9DEB55}" type="slidenum">
              <a:rPr lang="en-US" smtClean="0"/>
              <a:t>5</a:t>
            </a:fld>
            <a:endParaRPr lang="en-US" dirty="0"/>
          </a:p>
        </p:txBody>
      </p:sp>
    </p:spTree>
    <p:extLst>
      <p:ext uri="{BB962C8B-B14F-4D97-AF65-F5344CB8AC3E}">
        <p14:creationId xmlns:p14="http://schemas.microsoft.com/office/powerpoint/2010/main" val="401599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1234A-8741-0F5E-3773-DE08A217C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A3FA6-D7A7-5962-16D1-1C733DDC4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D09C2-4001-2E5B-66BC-6D5A0F4F49C9}"/>
              </a:ext>
            </a:extLst>
          </p:cNvPr>
          <p:cNvSpPr>
            <a:spLocks noGrp="1"/>
          </p:cNvSpPr>
          <p:nvPr>
            <p:ph type="body" idx="1"/>
          </p:nvPr>
        </p:nvSpPr>
        <p:spPr/>
        <p:txBody>
          <a:bodyPr/>
          <a:lstStyle/>
          <a:p>
            <a:r>
              <a:rPr lang="en-US" dirty="0"/>
              <a:t>Here we can see how we are classifying each age group.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t>The Age Group will be determined by decade as shown in the table on the right</a:t>
            </a:r>
          </a:p>
          <a:p>
            <a:endParaRPr lang="en-US" dirty="0"/>
          </a:p>
          <a:p>
            <a:r>
              <a:rPr lang="en-US" dirty="0"/>
              <a:t>For example, under the age group of 20s, the ages covered are from 20-29, and so on</a:t>
            </a:r>
          </a:p>
          <a:p>
            <a:endParaRPr lang="en-US" dirty="0"/>
          </a:p>
        </p:txBody>
      </p:sp>
      <p:sp>
        <p:nvSpPr>
          <p:cNvPr id="4" name="Slide Number Placeholder 3">
            <a:extLst>
              <a:ext uri="{FF2B5EF4-FFF2-40B4-BE49-F238E27FC236}">
                <a16:creationId xmlns:a16="http://schemas.microsoft.com/office/drawing/2014/main" id="{2FFB1B52-DFF1-4D81-4C5B-196A832F2463}"/>
              </a:ext>
            </a:extLst>
          </p:cNvPr>
          <p:cNvSpPr>
            <a:spLocks noGrp="1"/>
          </p:cNvSpPr>
          <p:nvPr>
            <p:ph type="sldNum" sz="quarter" idx="5"/>
          </p:nvPr>
        </p:nvSpPr>
        <p:spPr/>
        <p:txBody>
          <a:bodyPr/>
          <a:lstStyle/>
          <a:p>
            <a:fld id="{4AB3E965-974B-498D-B360-83DD1F9DEB55}" type="slidenum">
              <a:rPr lang="en-US" smtClean="0"/>
              <a:t>6</a:t>
            </a:fld>
            <a:endParaRPr lang="en-US" dirty="0"/>
          </a:p>
        </p:txBody>
      </p:sp>
    </p:spTree>
    <p:extLst>
      <p:ext uri="{BB962C8B-B14F-4D97-AF65-F5344CB8AC3E}">
        <p14:creationId xmlns:p14="http://schemas.microsoft.com/office/powerpoint/2010/main" val="757567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3887-E6D8-01EA-E22F-DEABA1610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76A4F-895B-DDD6-193F-18953B0B1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B73D5-F519-1B32-7825-88FFB2D5BB26}"/>
              </a:ext>
            </a:extLst>
          </p:cNvPr>
          <p:cNvSpPr>
            <a:spLocks noGrp="1"/>
          </p:cNvSpPr>
          <p:nvPr>
            <p:ph type="body" idx="1"/>
          </p:nvPr>
        </p:nvSpPr>
        <p:spPr/>
        <p:txBody>
          <a:bodyPr/>
          <a:lstStyle/>
          <a:p>
            <a:r>
              <a:rPr lang="en-US" dirty="0"/>
              <a:t>To explain the process of forming the age group, here is a quick workflow of how its done, first… (read the workflow)</a:t>
            </a:r>
          </a:p>
          <a:p>
            <a:endParaRPr lang="en-US" dirty="0"/>
          </a:p>
          <a:p>
            <a:r>
              <a:rPr lang="en-US" dirty="0"/>
              <a:t>After creating the column, we can visualize the data distribution using Panda’s plot pie as seen in the screenshot. In here we can see the proportion of each age group where we have more data in the younger age groups and it gradually becomes less on the older groups.</a:t>
            </a:r>
          </a:p>
        </p:txBody>
      </p:sp>
      <p:sp>
        <p:nvSpPr>
          <p:cNvPr id="4" name="Slide Number Placeholder 3">
            <a:extLst>
              <a:ext uri="{FF2B5EF4-FFF2-40B4-BE49-F238E27FC236}">
                <a16:creationId xmlns:a16="http://schemas.microsoft.com/office/drawing/2014/main" id="{4FBC1834-E6E2-1F21-9760-B47FFAC5B174}"/>
              </a:ext>
            </a:extLst>
          </p:cNvPr>
          <p:cNvSpPr>
            <a:spLocks noGrp="1"/>
          </p:cNvSpPr>
          <p:nvPr>
            <p:ph type="sldNum" sz="quarter" idx="5"/>
          </p:nvPr>
        </p:nvSpPr>
        <p:spPr/>
        <p:txBody>
          <a:bodyPr/>
          <a:lstStyle/>
          <a:p>
            <a:fld id="{4AB3E965-974B-498D-B360-83DD1F9DEB55}" type="slidenum">
              <a:rPr lang="en-US" smtClean="0"/>
              <a:t>7</a:t>
            </a:fld>
            <a:endParaRPr lang="en-US" dirty="0"/>
          </a:p>
        </p:txBody>
      </p:sp>
    </p:spTree>
    <p:extLst>
      <p:ext uri="{BB962C8B-B14F-4D97-AF65-F5344CB8AC3E}">
        <p14:creationId xmlns:p14="http://schemas.microsoft.com/office/powerpoint/2010/main" val="91924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D02F-5886-F777-D51C-6F44170B1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13BBC-D626-8CFC-DA27-9113C79EF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1E1E0-4CD4-CF0B-A53F-4F518135FED6}"/>
              </a:ext>
            </a:extLst>
          </p:cNvPr>
          <p:cNvSpPr>
            <a:spLocks noGrp="1"/>
          </p:cNvSpPr>
          <p:nvPr>
            <p:ph type="body" idx="1"/>
          </p:nvPr>
        </p:nvSpPr>
        <p:spPr/>
        <p:txBody>
          <a:bodyPr/>
          <a:lstStyle/>
          <a:p>
            <a:r>
              <a:rPr lang="en-US" dirty="0"/>
              <a:t>Afte running the code, this is </a:t>
            </a:r>
            <a:r>
              <a:rPr lang="en-US"/>
              <a:t>our visualization, here </a:t>
            </a:r>
            <a:r>
              <a:rPr lang="en-US" dirty="0"/>
              <a:t>is the Bokeh Vertical bar chart showing the age group in the X-axis, each age group will contain the 4 health issues category, and on the Y-axis we can see the average coffee intake per milligram.</a:t>
            </a:r>
          </a:p>
          <a:p>
            <a:endParaRPr lang="en-US" dirty="0"/>
          </a:p>
          <a:p>
            <a:r>
              <a:rPr lang="en-US" dirty="0"/>
              <a:t>Observations:</a:t>
            </a:r>
          </a:p>
          <a:p>
            <a:r>
              <a:rPr lang="en-US" dirty="0"/>
              <a:t>- The ‘Severe’ Health Issue Category does not have enough sample size, 11 in the 50s age group and 6 in the 60s age group</a:t>
            </a:r>
          </a:p>
          <a:p>
            <a:r>
              <a:rPr lang="en-US" dirty="0"/>
              <a:t>- From Age Groups 20s to 40s, those who consume more than 250 mg have Mild to Moderate Health Issues</a:t>
            </a:r>
          </a:p>
          <a:p>
            <a:r>
              <a:rPr lang="en-US" dirty="0"/>
              <a:t>- Those who does not have Health Issues consumes around 200 mg to 250 mg</a:t>
            </a:r>
          </a:p>
          <a:p>
            <a:r>
              <a:rPr lang="en-US" dirty="0"/>
              <a:t>- The difference in consumption of those with no health issues to those that have is only around 50 mg, which suggests that Coffee consumption might have less impact on one’s health, however, consuming less than 250 mg would be a safe measure</a:t>
            </a:r>
          </a:p>
        </p:txBody>
      </p:sp>
      <p:sp>
        <p:nvSpPr>
          <p:cNvPr id="4" name="Slide Number Placeholder 3">
            <a:extLst>
              <a:ext uri="{FF2B5EF4-FFF2-40B4-BE49-F238E27FC236}">
                <a16:creationId xmlns:a16="http://schemas.microsoft.com/office/drawing/2014/main" id="{91BD42EE-D37B-B4F8-A3C7-F08F1D7271AE}"/>
              </a:ext>
            </a:extLst>
          </p:cNvPr>
          <p:cNvSpPr>
            <a:spLocks noGrp="1"/>
          </p:cNvSpPr>
          <p:nvPr>
            <p:ph type="sldNum" sz="quarter" idx="5"/>
          </p:nvPr>
        </p:nvSpPr>
        <p:spPr/>
        <p:txBody>
          <a:bodyPr/>
          <a:lstStyle/>
          <a:p>
            <a:fld id="{4AB3E965-974B-498D-B360-83DD1F9DEB55}" type="slidenum">
              <a:rPr lang="en-US" smtClean="0"/>
              <a:t>8</a:t>
            </a:fld>
            <a:endParaRPr lang="en-US" dirty="0"/>
          </a:p>
        </p:txBody>
      </p:sp>
    </p:spTree>
    <p:extLst>
      <p:ext uri="{BB962C8B-B14F-4D97-AF65-F5344CB8AC3E}">
        <p14:creationId xmlns:p14="http://schemas.microsoft.com/office/powerpoint/2010/main" val="3391720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32BF5-4D0A-8A68-5FE9-DF8F58088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04B99-0D0F-4F95-C100-B958EE601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39053D-811B-3246-1D84-7FD7B82AB0E8}"/>
              </a:ext>
            </a:extLst>
          </p:cNvPr>
          <p:cNvSpPr>
            <a:spLocks noGrp="1"/>
          </p:cNvSpPr>
          <p:nvPr>
            <p:ph type="body" idx="1"/>
          </p:nvPr>
        </p:nvSpPr>
        <p:spPr/>
        <p:txBody>
          <a:bodyPr/>
          <a:lstStyle/>
          <a:p>
            <a:r>
              <a:rPr lang="en-US" dirty="0"/>
              <a:t>Now moving on to our second and last visualization, our goal is to…</a:t>
            </a:r>
          </a:p>
        </p:txBody>
      </p:sp>
      <p:sp>
        <p:nvSpPr>
          <p:cNvPr id="4" name="Slide Number Placeholder 3">
            <a:extLst>
              <a:ext uri="{FF2B5EF4-FFF2-40B4-BE49-F238E27FC236}">
                <a16:creationId xmlns:a16="http://schemas.microsoft.com/office/drawing/2014/main" id="{18559503-F14D-889D-A262-322B121C53F7}"/>
              </a:ext>
            </a:extLst>
          </p:cNvPr>
          <p:cNvSpPr>
            <a:spLocks noGrp="1"/>
          </p:cNvSpPr>
          <p:nvPr>
            <p:ph type="sldNum" sz="quarter" idx="5"/>
          </p:nvPr>
        </p:nvSpPr>
        <p:spPr/>
        <p:txBody>
          <a:bodyPr/>
          <a:lstStyle/>
          <a:p>
            <a:fld id="{4AB3E965-974B-498D-B360-83DD1F9DEB55}" type="slidenum">
              <a:rPr lang="en-US" smtClean="0"/>
              <a:t>9</a:t>
            </a:fld>
            <a:endParaRPr lang="en-US" dirty="0"/>
          </a:p>
        </p:txBody>
      </p:sp>
    </p:spTree>
    <p:extLst>
      <p:ext uri="{BB962C8B-B14F-4D97-AF65-F5344CB8AC3E}">
        <p14:creationId xmlns:p14="http://schemas.microsoft.com/office/powerpoint/2010/main" val="1690581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7710E-2A06-BE5E-DA5E-FBF2A4EA9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C547B-D53F-CF9D-2FB0-4CEF5C84B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4598F-48E0-79A4-60DF-A9B7D546A0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39929B-F9CF-52C5-1916-0C9217CB4419}"/>
              </a:ext>
            </a:extLst>
          </p:cNvPr>
          <p:cNvSpPr>
            <a:spLocks noGrp="1"/>
          </p:cNvSpPr>
          <p:nvPr>
            <p:ph type="sldNum" sz="quarter" idx="5"/>
          </p:nvPr>
        </p:nvSpPr>
        <p:spPr/>
        <p:txBody>
          <a:bodyPr/>
          <a:lstStyle/>
          <a:p>
            <a:fld id="{4AB3E965-974B-498D-B360-83DD1F9DEB55}" type="slidenum">
              <a:rPr lang="en-US" smtClean="0"/>
              <a:t>10</a:t>
            </a:fld>
            <a:endParaRPr lang="en-US" dirty="0"/>
          </a:p>
        </p:txBody>
      </p:sp>
    </p:spTree>
    <p:extLst>
      <p:ext uri="{BB962C8B-B14F-4D97-AF65-F5344CB8AC3E}">
        <p14:creationId xmlns:p14="http://schemas.microsoft.com/office/powerpoint/2010/main" val="1932117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7ECD0-0441-4146-8796-B3A3F2C0E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A9076-2D17-F49C-6305-427AE8E97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4A185-2307-A776-9650-055731D44514}"/>
              </a:ext>
            </a:extLst>
          </p:cNvPr>
          <p:cNvSpPr>
            <a:spLocks noGrp="1"/>
          </p:cNvSpPr>
          <p:nvPr>
            <p:ph type="body" idx="1"/>
          </p:nvPr>
        </p:nvSpPr>
        <p:spPr/>
        <p:txBody>
          <a:bodyPr/>
          <a:lstStyle/>
          <a:p>
            <a:r>
              <a:rPr lang="en-US" dirty="0"/>
              <a:t>Now in able to code this properly, we need to see how the JSON file looks like…</a:t>
            </a:r>
          </a:p>
        </p:txBody>
      </p:sp>
      <p:sp>
        <p:nvSpPr>
          <p:cNvPr id="4" name="Slide Number Placeholder 3">
            <a:extLst>
              <a:ext uri="{FF2B5EF4-FFF2-40B4-BE49-F238E27FC236}">
                <a16:creationId xmlns:a16="http://schemas.microsoft.com/office/drawing/2014/main" id="{60578FEE-156C-059E-F408-CF124647E4A2}"/>
              </a:ext>
            </a:extLst>
          </p:cNvPr>
          <p:cNvSpPr>
            <a:spLocks noGrp="1"/>
          </p:cNvSpPr>
          <p:nvPr>
            <p:ph type="sldNum" sz="quarter" idx="5"/>
          </p:nvPr>
        </p:nvSpPr>
        <p:spPr/>
        <p:txBody>
          <a:bodyPr/>
          <a:lstStyle/>
          <a:p>
            <a:fld id="{4AB3E965-974B-498D-B360-83DD1F9DEB55}" type="slidenum">
              <a:rPr lang="en-US" smtClean="0"/>
              <a:t>11</a:t>
            </a:fld>
            <a:endParaRPr lang="en-US" dirty="0"/>
          </a:p>
        </p:txBody>
      </p:sp>
    </p:spTree>
    <p:extLst>
      <p:ext uri="{BB962C8B-B14F-4D97-AF65-F5344CB8AC3E}">
        <p14:creationId xmlns:p14="http://schemas.microsoft.com/office/powerpoint/2010/main" val="3289490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DA7E3-49C2-92B5-2F09-A8E9C8805A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BC471-7617-F014-3928-4A5A5F4C3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C7EF0-9165-0269-C05E-35111B8AFB99}"/>
              </a:ext>
            </a:extLst>
          </p:cNvPr>
          <p:cNvSpPr>
            <a:spLocks noGrp="1"/>
          </p:cNvSpPr>
          <p:nvPr>
            <p:ph type="body" idx="1"/>
          </p:nvPr>
        </p:nvSpPr>
        <p:spPr/>
        <p:txBody>
          <a:bodyPr/>
          <a:lstStyle/>
          <a:p>
            <a:pPr>
              <a:buFont typeface="Wingdings" panose="05000000000000000000" pitchFamily="2" charset="2"/>
              <a:buChar char="Ø"/>
            </a:pPr>
            <a:r>
              <a:rPr lang="en-CA" sz="1200" dirty="0"/>
              <a:t>The higher the Caffeine intake, the darker the Yellow will be</a:t>
            </a:r>
          </a:p>
          <a:p>
            <a:pPr>
              <a:buFont typeface="Wingdings" panose="05000000000000000000" pitchFamily="2" charset="2"/>
              <a:buChar char="Ø"/>
            </a:pPr>
            <a:r>
              <a:rPr lang="en-CA" sz="1200" dirty="0"/>
              <a:t>The lower the Caffeine intake, the lighter the Yellow will be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t>After testing the function, the colors will look like the ones shown below</a:t>
            </a:r>
            <a:endParaRPr lang="en-US" dirty="0"/>
          </a:p>
        </p:txBody>
      </p:sp>
      <p:sp>
        <p:nvSpPr>
          <p:cNvPr id="4" name="Slide Number Placeholder 3">
            <a:extLst>
              <a:ext uri="{FF2B5EF4-FFF2-40B4-BE49-F238E27FC236}">
                <a16:creationId xmlns:a16="http://schemas.microsoft.com/office/drawing/2014/main" id="{79EC14AF-8A8A-7EFD-8185-18986D84A33E}"/>
              </a:ext>
            </a:extLst>
          </p:cNvPr>
          <p:cNvSpPr>
            <a:spLocks noGrp="1"/>
          </p:cNvSpPr>
          <p:nvPr>
            <p:ph type="sldNum" sz="quarter" idx="5"/>
          </p:nvPr>
        </p:nvSpPr>
        <p:spPr/>
        <p:txBody>
          <a:bodyPr/>
          <a:lstStyle/>
          <a:p>
            <a:fld id="{4AB3E965-974B-498D-B360-83DD1F9DEB55}" type="slidenum">
              <a:rPr lang="en-US" smtClean="0"/>
              <a:t>12</a:t>
            </a:fld>
            <a:endParaRPr lang="en-US" dirty="0"/>
          </a:p>
        </p:txBody>
      </p:sp>
    </p:spTree>
    <p:extLst>
      <p:ext uri="{BB962C8B-B14F-4D97-AF65-F5344CB8AC3E}">
        <p14:creationId xmlns:p14="http://schemas.microsoft.com/office/powerpoint/2010/main" val="479045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7FFA2-AA85-46E7-DB6D-C188D4D7D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F3866-A227-3657-F9BE-3E7840E5A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765199-AC21-12FE-B743-E9FB287F6ACE}"/>
              </a:ext>
            </a:extLst>
          </p:cNvPr>
          <p:cNvSpPr>
            <a:spLocks noGrp="1"/>
          </p:cNvSpPr>
          <p:nvPr>
            <p:ph type="body" idx="1"/>
          </p:nvPr>
        </p:nvSpPr>
        <p:spPr/>
        <p:txBody>
          <a:bodyPr/>
          <a:lstStyle/>
          <a:p>
            <a:r>
              <a:rPr lang="en-US" dirty="0"/>
              <a:t>Here is a quick overview of how I coded this process of showing the average caffeine intake by country in a map</a:t>
            </a:r>
          </a:p>
          <a:p>
            <a:r>
              <a:rPr lang="en-US" dirty="0"/>
              <a:t>It involves importing the </a:t>
            </a:r>
            <a:r>
              <a:rPr lang="en-US" dirty="0" err="1"/>
              <a:t>GeoJSON</a:t>
            </a:r>
            <a:r>
              <a:rPr lang="en-US" dirty="0"/>
              <a:t> data, preparing the coffee </a:t>
            </a:r>
            <a:r>
              <a:rPr lang="en-US" dirty="0" err="1"/>
              <a:t>dataframe</a:t>
            </a:r>
            <a:r>
              <a:rPr lang="en-US" dirty="0"/>
              <a:t>, filtering and grouping the </a:t>
            </a:r>
            <a:r>
              <a:rPr lang="en-US" dirty="0" err="1"/>
              <a:t>dataframe</a:t>
            </a:r>
            <a:r>
              <a:rPr lang="en-US" dirty="0"/>
              <a:t>, sorting by caffeine intake of each country, which will be used to determine the color and finally updating the </a:t>
            </a:r>
            <a:r>
              <a:rPr lang="en-US" dirty="0" err="1"/>
              <a:t>GeoJSON</a:t>
            </a:r>
            <a:r>
              <a:rPr lang="en-US" dirty="0"/>
              <a:t> properties to show the new colors and a tooltip for each country showing their ranking and average caffeine intake</a:t>
            </a:r>
          </a:p>
        </p:txBody>
      </p:sp>
      <p:sp>
        <p:nvSpPr>
          <p:cNvPr id="4" name="Slide Number Placeholder 3">
            <a:extLst>
              <a:ext uri="{FF2B5EF4-FFF2-40B4-BE49-F238E27FC236}">
                <a16:creationId xmlns:a16="http://schemas.microsoft.com/office/drawing/2014/main" id="{02E2A7AA-DF11-F8A0-37FA-B4412D2C8138}"/>
              </a:ext>
            </a:extLst>
          </p:cNvPr>
          <p:cNvSpPr>
            <a:spLocks noGrp="1"/>
          </p:cNvSpPr>
          <p:nvPr>
            <p:ph type="sldNum" sz="quarter" idx="5"/>
          </p:nvPr>
        </p:nvSpPr>
        <p:spPr/>
        <p:txBody>
          <a:bodyPr/>
          <a:lstStyle/>
          <a:p>
            <a:fld id="{4AB3E965-974B-498D-B360-83DD1F9DEB55}" type="slidenum">
              <a:rPr lang="en-US" smtClean="0"/>
              <a:t>13</a:t>
            </a:fld>
            <a:endParaRPr lang="en-US" dirty="0"/>
          </a:p>
        </p:txBody>
      </p:sp>
    </p:spTree>
    <p:extLst>
      <p:ext uri="{BB962C8B-B14F-4D97-AF65-F5344CB8AC3E}">
        <p14:creationId xmlns:p14="http://schemas.microsoft.com/office/powerpoint/2010/main" val="2240521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22AF3-0759-8531-B180-001C6D726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A7676-B525-2E27-C3BB-E2BEBD5D7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D25FA8-71CD-9098-821C-1AC9C3876C95}"/>
              </a:ext>
            </a:extLst>
          </p:cNvPr>
          <p:cNvSpPr>
            <a:spLocks noGrp="1"/>
          </p:cNvSpPr>
          <p:nvPr>
            <p:ph type="body" idx="1"/>
          </p:nvPr>
        </p:nvSpPr>
        <p:spPr/>
        <p:txBody>
          <a:bodyPr/>
          <a:lstStyle/>
          <a:p>
            <a:r>
              <a:rPr lang="en-US" dirty="0"/>
              <a:t>After running the code, Here we can see that our world map is now highlighting the 20 countries that we have data on.</a:t>
            </a:r>
          </a:p>
          <a:p>
            <a:endParaRPr lang="en-US" dirty="0"/>
          </a:p>
          <a:p>
            <a:r>
              <a:rPr lang="en-US" dirty="0"/>
              <a:t>Let’s take a closer look at the figure in the notebook…</a:t>
            </a:r>
          </a:p>
          <a:p>
            <a:endParaRPr lang="en-US" dirty="0"/>
          </a:p>
          <a:p>
            <a:r>
              <a:rPr lang="en-US" dirty="0"/>
              <a:t>Analysis:</a:t>
            </a:r>
          </a:p>
          <a:p>
            <a:r>
              <a:rPr lang="en-US" dirty="0"/>
              <a:t>- Spain ranks number 1 with an average of 247 mg per day</a:t>
            </a:r>
          </a:p>
          <a:p>
            <a:r>
              <a:rPr lang="en-US" dirty="0"/>
              <a:t>- Belgium ranks last at number 20 with an average of 230 mg per day</a:t>
            </a:r>
          </a:p>
          <a:p>
            <a:endParaRPr lang="en-US" dirty="0"/>
          </a:p>
        </p:txBody>
      </p:sp>
      <p:sp>
        <p:nvSpPr>
          <p:cNvPr id="4" name="Slide Number Placeholder 3">
            <a:extLst>
              <a:ext uri="{FF2B5EF4-FFF2-40B4-BE49-F238E27FC236}">
                <a16:creationId xmlns:a16="http://schemas.microsoft.com/office/drawing/2014/main" id="{940FCA9A-BDAC-EB72-C666-BEE1B5A270E8}"/>
              </a:ext>
            </a:extLst>
          </p:cNvPr>
          <p:cNvSpPr>
            <a:spLocks noGrp="1"/>
          </p:cNvSpPr>
          <p:nvPr>
            <p:ph type="sldNum" sz="quarter" idx="5"/>
          </p:nvPr>
        </p:nvSpPr>
        <p:spPr/>
        <p:txBody>
          <a:bodyPr/>
          <a:lstStyle/>
          <a:p>
            <a:fld id="{4AB3E965-974B-498D-B360-83DD1F9DEB55}" type="slidenum">
              <a:rPr lang="en-US" smtClean="0"/>
              <a:t>14</a:t>
            </a:fld>
            <a:endParaRPr lang="en-US" dirty="0"/>
          </a:p>
        </p:txBody>
      </p:sp>
    </p:spTree>
    <p:extLst>
      <p:ext uri="{BB962C8B-B14F-4D97-AF65-F5344CB8AC3E}">
        <p14:creationId xmlns:p14="http://schemas.microsoft.com/office/powerpoint/2010/main" val="439462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8DBB5-6E7D-CF84-C640-3323D851E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BC193-BCC3-751F-AF75-8A216A333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EE3154-2908-F6C8-329F-28F38662E0A7}"/>
              </a:ext>
            </a:extLst>
          </p:cNvPr>
          <p:cNvSpPr>
            <a:spLocks noGrp="1"/>
          </p:cNvSpPr>
          <p:nvPr>
            <p:ph type="body" idx="1"/>
          </p:nvPr>
        </p:nvSpPr>
        <p:spPr/>
        <p:txBody>
          <a:bodyPr/>
          <a:lstStyle/>
          <a:p>
            <a:r>
              <a:rPr lang="en-US" dirty="0"/>
              <a:t>Finally, we will prepare our visualization for publish so we can post it on the internet and share the URL.</a:t>
            </a:r>
          </a:p>
        </p:txBody>
      </p:sp>
      <p:sp>
        <p:nvSpPr>
          <p:cNvPr id="4" name="Slide Number Placeholder 3">
            <a:extLst>
              <a:ext uri="{FF2B5EF4-FFF2-40B4-BE49-F238E27FC236}">
                <a16:creationId xmlns:a16="http://schemas.microsoft.com/office/drawing/2014/main" id="{8EDE54E5-1F91-89ED-DCA9-588590B499AD}"/>
              </a:ext>
            </a:extLst>
          </p:cNvPr>
          <p:cNvSpPr>
            <a:spLocks noGrp="1"/>
          </p:cNvSpPr>
          <p:nvPr>
            <p:ph type="sldNum" sz="quarter" idx="5"/>
          </p:nvPr>
        </p:nvSpPr>
        <p:spPr/>
        <p:txBody>
          <a:bodyPr/>
          <a:lstStyle/>
          <a:p>
            <a:fld id="{4AB3E965-974B-498D-B360-83DD1F9DEB55}" type="slidenum">
              <a:rPr lang="en-US" smtClean="0"/>
              <a:t>15</a:t>
            </a:fld>
            <a:endParaRPr lang="en-US" dirty="0"/>
          </a:p>
        </p:txBody>
      </p:sp>
    </p:spTree>
    <p:extLst>
      <p:ext uri="{BB962C8B-B14F-4D97-AF65-F5344CB8AC3E}">
        <p14:creationId xmlns:p14="http://schemas.microsoft.com/office/powerpoint/2010/main" val="122799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4BAAA-0202-0043-1E03-04ABDF311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CAA01-68B3-80AA-11E3-9D677D28C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E5456-DA63-07C9-A8EE-3316AD2F0CF4}"/>
              </a:ext>
            </a:extLst>
          </p:cNvPr>
          <p:cNvSpPr>
            <a:spLocks noGrp="1"/>
          </p:cNvSpPr>
          <p:nvPr>
            <p:ph type="body" idx="1"/>
          </p:nvPr>
        </p:nvSpPr>
        <p:spPr/>
        <p:txBody>
          <a:bodyPr/>
          <a:lstStyle/>
          <a:p>
            <a:r>
              <a:rPr lang="en-US" dirty="0"/>
              <a:t>Just to show all my analysis for each figure in one slide, here it is and I have gathered them in here for my summary.</a:t>
            </a:r>
          </a:p>
        </p:txBody>
      </p:sp>
      <p:sp>
        <p:nvSpPr>
          <p:cNvPr id="4" name="Slide Number Placeholder 3">
            <a:extLst>
              <a:ext uri="{FF2B5EF4-FFF2-40B4-BE49-F238E27FC236}">
                <a16:creationId xmlns:a16="http://schemas.microsoft.com/office/drawing/2014/main" id="{77CF2ED3-A381-D6B3-504C-B1019198CEF9}"/>
              </a:ext>
            </a:extLst>
          </p:cNvPr>
          <p:cNvSpPr>
            <a:spLocks noGrp="1"/>
          </p:cNvSpPr>
          <p:nvPr>
            <p:ph type="sldNum" sz="quarter" idx="5"/>
          </p:nvPr>
        </p:nvSpPr>
        <p:spPr/>
        <p:txBody>
          <a:bodyPr/>
          <a:lstStyle/>
          <a:p>
            <a:fld id="{4AB3E965-974B-498D-B360-83DD1F9DEB55}" type="slidenum">
              <a:rPr lang="en-US" smtClean="0"/>
              <a:t>16</a:t>
            </a:fld>
            <a:endParaRPr lang="en-US" dirty="0"/>
          </a:p>
        </p:txBody>
      </p:sp>
    </p:spTree>
    <p:extLst>
      <p:ext uri="{BB962C8B-B14F-4D97-AF65-F5344CB8AC3E}">
        <p14:creationId xmlns:p14="http://schemas.microsoft.com/office/powerpoint/2010/main" val="1374226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9E010-56A9-3DD1-4A41-D425FBF83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47DE0-1B9E-9602-532C-016F3D5BC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AF19B5-E389-3F0F-BDE8-35B03CA33B90}"/>
              </a:ext>
            </a:extLst>
          </p:cNvPr>
          <p:cNvSpPr>
            <a:spLocks noGrp="1"/>
          </p:cNvSpPr>
          <p:nvPr>
            <p:ph type="body" idx="1"/>
          </p:nvPr>
        </p:nvSpPr>
        <p:spPr/>
        <p:txBody>
          <a:bodyPr/>
          <a:lstStyle/>
          <a:p>
            <a:r>
              <a:rPr lang="en-US" dirty="0"/>
              <a:t>And here are all the sources that I have used, starting from the dataset, the Geo JSON file and the coding help references that I used from Stack Overflow and some official documentation sites.</a:t>
            </a:r>
          </a:p>
        </p:txBody>
      </p:sp>
      <p:sp>
        <p:nvSpPr>
          <p:cNvPr id="4" name="Slide Number Placeholder 3">
            <a:extLst>
              <a:ext uri="{FF2B5EF4-FFF2-40B4-BE49-F238E27FC236}">
                <a16:creationId xmlns:a16="http://schemas.microsoft.com/office/drawing/2014/main" id="{1A8206DA-5055-0AD4-73F8-AD8EF93884A6}"/>
              </a:ext>
            </a:extLst>
          </p:cNvPr>
          <p:cNvSpPr>
            <a:spLocks noGrp="1"/>
          </p:cNvSpPr>
          <p:nvPr>
            <p:ph type="sldNum" sz="quarter" idx="5"/>
          </p:nvPr>
        </p:nvSpPr>
        <p:spPr/>
        <p:txBody>
          <a:bodyPr/>
          <a:lstStyle/>
          <a:p>
            <a:fld id="{4AB3E965-974B-498D-B360-83DD1F9DEB55}" type="slidenum">
              <a:rPr lang="en-US" smtClean="0"/>
              <a:t>17</a:t>
            </a:fld>
            <a:endParaRPr lang="en-US" dirty="0"/>
          </a:p>
        </p:txBody>
      </p:sp>
    </p:spTree>
    <p:extLst>
      <p:ext uri="{BB962C8B-B14F-4D97-AF65-F5344CB8AC3E}">
        <p14:creationId xmlns:p14="http://schemas.microsoft.com/office/powerpoint/2010/main" val="1853347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A669E-BEE8-4D4A-FCDE-FBE57FF34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ECC99-859E-DDD2-B0A7-689D86884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08A62-6662-A1D5-801B-FDDEB542A183}"/>
              </a:ext>
            </a:extLst>
          </p:cNvPr>
          <p:cNvSpPr>
            <a:spLocks noGrp="1"/>
          </p:cNvSpPr>
          <p:nvPr>
            <p:ph type="body" idx="1"/>
          </p:nvPr>
        </p:nvSpPr>
        <p:spPr/>
        <p:txBody>
          <a:bodyPr/>
          <a:lstStyle/>
          <a:p>
            <a:r>
              <a:rPr lang="en-US" dirty="0"/>
              <a:t>This is where my presentation ends.</a:t>
            </a:r>
          </a:p>
          <a:p>
            <a:endParaRPr lang="en-US" dirty="0"/>
          </a:p>
          <a:p>
            <a:r>
              <a:rPr lang="en-US" dirty="0"/>
              <a:t>I hope this presentation gave you a better understanding on using Pandas and Bokeh for analyzing and visualizing our Global Coffee Health data set.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would like to </a:t>
            </a:r>
            <a:r>
              <a:rPr lang="en-US"/>
              <a:t>say my </a:t>
            </a:r>
            <a:r>
              <a:rPr lang="en-US" dirty="0"/>
              <a:t>special thanks to all the instructors in M2M tech for teaching us and sharing your knowledge in using Pandas and Bokeh.</a:t>
            </a:r>
          </a:p>
          <a:p>
            <a:endParaRPr lang="en-US" dirty="0"/>
          </a:p>
          <a:p>
            <a:r>
              <a:rPr lang="en-US" dirty="0"/>
              <a:t>Thank you for watching and I wish everyone well.</a:t>
            </a:r>
          </a:p>
          <a:p>
            <a:endParaRPr lang="en-US" dirty="0"/>
          </a:p>
          <a:p>
            <a:r>
              <a:rPr lang="en-US" dirty="0"/>
              <a:t>Thank you!</a:t>
            </a:r>
          </a:p>
        </p:txBody>
      </p:sp>
      <p:sp>
        <p:nvSpPr>
          <p:cNvPr id="4" name="Slide Number Placeholder 3">
            <a:extLst>
              <a:ext uri="{FF2B5EF4-FFF2-40B4-BE49-F238E27FC236}">
                <a16:creationId xmlns:a16="http://schemas.microsoft.com/office/drawing/2014/main" id="{13711487-B33C-65DC-76B4-C3721030A4D6}"/>
              </a:ext>
            </a:extLst>
          </p:cNvPr>
          <p:cNvSpPr>
            <a:spLocks noGrp="1"/>
          </p:cNvSpPr>
          <p:nvPr>
            <p:ph type="sldNum" sz="quarter" idx="5"/>
          </p:nvPr>
        </p:nvSpPr>
        <p:spPr/>
        <p:txBody>
          <a:bodyPr/>
          <a:lstStyle/>
          <a:p>
            <a:fld id="{4AB3E965-974B-498D-B360-83DD1F9DEB55}" type="slidenum">
              <a:rPr lang="en-US" smtClean="0"/>
              <a:t>18</a:t>
            </a:fld>
            <a:endParaRPr lang="en-US" dirty="0"/>
          </a:p>
        </p:txBody>
      </p:sp>
    </p:spTree>
    <p:extLst>
      <p:ext uri="{BB962C8B-B14F-4D97-AF65-F5344CB8AC3E}">
        <p14:creationId xmlns:p14="http://schemas.microsoft.com/office/powerpoint/2010/main" val="4094663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noProof="0"/>
              <a:t>Click to edit Master title style</a:t>
            </a:r>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4" name="Date Placeholder 3"/>
          <p:cNvSpPr>
            <a:spLocks noGrp="1"/>
          </p:cNvSpPr>
          <p:nvPr>
            <p:ph type="dt" sz="half" idx="10"/>
          </p:nvPr>
        </p:nvSpPr>
        <p:spPr/>
        <p:txBody>
          <a:bodyPr/>
          <a:lstStyle>
            <a:lvl1pPr algn="l">
              <a:defRPr/>
            </a:lvl1pPr>
          </a:lstStyle>
          <a:p>
            <a:fld id="{9AB3A824-1A51-4B26-AD58-A6D8E14F6C04}" type="datetimeFigureOut">
              <a:rPr lang="en-US" noProof="0" smtClean="0"/>
              <a:t>11/15/2025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451507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7D162C4-EDD9-4389-A98B-B87ECEA2A816}" type="datetimeFigureOut">
              <a:rPr lang="en-US" noProof="0" smtClean="0"/>
              <a:t>11/15/2025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23064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noProof="0"/>
              <a:t>Click to edit Master title style</a:t>
            </a:r>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noProof="0" smtClean="0"/>
              <a:t>11/15/2025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646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noProof="0"/>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CA954B2F-12DE-47F5-8894-472B206D2E1E}" type="datetimeFigureOut">
              <a:rPr lang="en-US" noProof="0" smtClean="0"/>
              <a:t>11/15/2025</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27958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11/15/2025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5863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11/15/2025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9618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11/15/2025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396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11/15/2025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3651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11/15/2025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80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11/15/2025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727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11/15/2025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95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CBC1C18-307B-4F68-A007-B5B542270E8D}" type="datetimeFigureOut">
              <a:rPr lang="en-US" noProof="0" smtClean="0"/>
              <a:t>11/15/2025</a:t>
            </a:fld>
            <a:endParaRPr lang="en-US" noProof="0"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noProof="0" dirty="0"/>
              <a:t>
              </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22F896-40B5-4ADD-8801-0D06FADFA095}" type="slidenum">
              <a:rPr lang="en-US" noProof="0" smtClean="0"/>
              <a:pPr/>
              <a:t>‹#›</a:t>
            </a:fld>
            <a:endParaRPr lang="en-US" noProof="0"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02846"/>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uom190346a/global-coffee-health-datase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eojson-maps.kyd.au/"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cs.bokeh.org/en/latest/docs/user_guide/basic/layouts.html#general-grid-layout"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aramirez-capstone1-0978da.netlify.app/"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7" Type="http://schemas.openxmlformats.org/officeDocument/2006/relationships/hyperlink" Target="https://docs.bokeh.org/en/latest/docs/user_guide/basic/layouts.html#general-grid-layout"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stackoverflow.com/questions/37765197/darken-or-lighten-a-color-in-matplotlib" TargetMode="External"/><Relationship Id="rId5" Type="http://schemas.openxmlformats.org/officeDocument/2006/relationships/hyperlink" Target="https://geojson-maps.kyd.au/" TargetMode="External"/><Relationship Id="rId4" Type="http://schemas.openxmlformats.org/officeDocument/2006/relationships/hyperlink" Target="https://www.kaggle.com/datasets/uom190346a/global-coffee-health-dataset"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a cup of coffee&#10;&#10;AI-generated content may be incorrect.">
            <a:extLst>
              <a:ext uri="{FF2B5EF4-FFF2-40B4-BE49-F238E27FC236}">
                <a16:creationId xmlns:a16="http://schemas.microsoft.com/office/drawing/2014/main" id="{CB7D71DC-E094-F851-3587-3C741472673B}"/>
              </a:ext>
            </a:extLst>
          </p:cNvPr>
          <p:cNvPicPr>
            <a:picLocks noGrp="1" noRot="1" noChangeAspect="1" noMove="1" noResize="1" noEditPoints="1" noAdjustHandles="1" noChangeArrowheads="1" noChangeShapeType="1" noCrop="1"/>
          </p:cNvPicPr>
          <p:nvPr/>
        </p:nvPicPr>
        <p:blipFill>
          <a:blip r:embed="rId3">
            <a:alphaModFix amt="45000"/>
          </a:blip>
          <a:srcRect l="25"/>
          <a:stretch>
            <a:fillRect/>
          </a:stretch>
        </p:blipFill>
        <p:spPr>
          <a:xfrm>
            <a:off x="20" y="-1"/>
            <a:ext cx="12188932" cy="6858000"/>
          </a:xfrm>
          <a:prstGeom prst="rect">
            <a:avLst/>
          </a:prstGeom>
        </p:spPr>
      </p:pic>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643467" y="643467"/>
            <a:ext cx="7164674" cy="5571066"/>
          </a:xfrm>
        </p:spPr>
        <p:txBody>
          <a:bodyPr>
            <a:normAutofit/>
          </a:bodyPr>
          <a:lstStyle/>
          <a:p>
            <a:r>
              <a:rPr lang="en-US" sz="8000" dirty="0">
                <a:solidFill>
                  <a:schemeClr val="tx1"/>
                </a:solidFill>
              </a:rPr>
              <a:t>Global</a:t>
            </a:r>
            <a:br>
              <a:rPr lang="en-US" sz="8000" dirty="0">
                <a:solidFill>
                  <a:schemeClr val="tx1"/>
                </a:solidFill>
              </a:rPr>
            </a:br>
            <a:r>
              <a:rPr lang="en-US" sz="8000" dirty="0">
                <a:solidFill>
                  <a:schemeClr val="tx1"/>
                </a:solidFill>
              </a:rPr>
              <a:t>Coffee Health</a:t>
            </a:r>
            <a:br>
              <a:rPr lang="en-US" sz="8000" dirty="0">
                <a:solidFill>
                  <a:schemeClr val="tx1"/>
                </a:solidFill>
              </a:rPr>
            </a:br>
            <a:r>
              <a:rPr lang="en-US" sz="8000" dirty="0">
                <a:solidFill>
                  <a:schemeClr val="tx1"/>
                </a:solidFill>
              </a:rPr>
              <a:t>Advanced</a:t>
            </a:r>
            <a:br>
              <a:rPr lang="en-US" sz="8000" dirty="0">
                <a:solidFill>
                  <a:schemeClr val="tx1"/>
                </a:solidFill>
              </a:rPr>
            </a:br>
            <a:r>
              <a:rPr lang="en-US" sz="8000" dirty="0">
                <a:solidFill>
                  <a:schemeClr val="tx1"/>
                </a:solidFill>
              </a:rPr>
              <a:t>Visualization</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8451608" y="643467"/>
            <a:ext cx="3096926" cy="5571066"/>
          </a:xfrm>
        </p:spPr>
        <p:txBody>
          <a:bodyPr>
            <a:normAutofit/>
          </a:bodyPr>
          <a:lstStyle/>
          <a:p>
            <a:r>
              <a:rPr lang="en-US" sz="2800" b="1" dirty="0">
                <a:solidFill>
                  <a:schemeClr val="tx1"/>
                </a:solidFill>
              </a:rPr>
              <a:t>Capstone #2</a:t>
            </a:r>
          </a:p>
          <a:p>
            <a:r>
              <a:rPr lang="en-US" sz="2000" dirty="0">
                <a:solidFill>
                  <a:schemeClr val="tx1"/>
                </a:solidFill>
              </a:rPr>
              <a:t>M2M Tech Connect</a:t>
            </a:r>
          </a:p>
          <a:p>
            <a:r>
              <a:rPr lang="en-US" sz="2000" dirty="0">
                <a:solidFill>
                  <a:schemeClr val="tx1"/>
                </a:solidFill>
              </a:rPr>
              <a:t>Data Talent Program</a:t>
            </a:r>
          </a:p>
          <a:p>
            <a:r>
              <a:rPr lang="en-US" sz="2000" dirty="0">
                <a:solidFill>
                  <a:schemeClr val="tx1"/>
                </a:solidFill>
              </a:rPr>
              <a:t>Cohort 18</a:t>
            </a:r>
          </a:p>
          <a:p>
            <a:endParaRPr lang="en-US" sz="2000" dirty="0">
              <a:solidFill>
                <a:schemeClr val="tx1"/>
              </a:solidFill>
            </a:endParaRPr>
          </a:p>
          <a:p>
            <a:r>
              <a:rPr lang="en-US" sz="1600" dirty="0">
                <a:solidFill>
                  <a:schemeClr val="tx1"/>
                </a:solidFill>
              </a:rPr>
              <a:t>Presented by:</a:t>
            </a:r>
          </a:p>
          <a:p>
            <a:r>
              <a:rPr lang="en-US" sz="2000" dirty="0">
                <a:solidFill>
                  <a:schemeClr val="tx1"/>
                </a:solidFill>
              </a:rPr>
              <a:t>Angelo Ramirez</a:t>
            </a:r>
          </a:p>
          <a:p>
            <a:endParaRPr lang="en-US" sz="2000" dirty="0">
              <a:solidFill>
                <a:schemeClr val="tx1"/>
              </a:solidFill>
            </a:endParaRPr>
          </a:p>
          <a:p>
            <a:r>
              <a:rPr lang="en-US" sz="2000" dirty="0">
                <a:solidFill>
                  <a:schemeClr val="tx1"/>
                </a:solidFill>
              </a:rPr>
              <a:t>November 2025</a:t>
            </a:r>
          </a:p>
        </p:txBody>
      </p:sp>
      <p:cxnSp>
        <p:nvCxnSpPr>
          <p:cNvPr id="44" name="Straight Connector 43">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1852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E6C9CE-1BEC-CECC-FB7A-3BF4D7F9E186}"/>
              </a:ext>
            </a:extLst>
          </p:cNvPr>
          <p:cNvSpPr>
            <a:spLocks noGrp="1"/>
          </p:cNvSpPr>
          <p:nvPr>
            <p:ph idx="1"/>
          </p:nvPr>
        </p:nvSpPr>
        <p:spPr>
          <a:xfrm>
            <a:off x="3234906" y="1543645"/>
            <a:ext cx="8578722" cy="5077872"/>
          </a:xfrm>
        </p:spPr>
        <p:txBody>
          <a:bodyPr/>
          <a:lstStyle/>
          <a:p>
            <a:pPr>
              <a:buFont typeface="Wingdings" panose="05000000000000000000" pitchFamily="2" charset="2"/>
              <a:buChar char="Ø"/>
            </a:pPr>
            <a:r>
              <a:rPr lang="en-US" sz="2800" dirty="0"/>
              <a:t>Visualize the data via charts using Python and Bokeh</a:t>
            </a:r>
          </a:p>
          <a:p>
            <a:pPr>
              <a:buFont typeface="Wingdings" panose="05000000000000000000" pitchFamily="2" charset="2"/>
              <a:buChar char="Ø"/>
            </a:pPr>
            <a:r>
              <a:rPr lang="en-US" sz="2800" dirty="0"/>
              <a:t>Visualize the data in a world map using Geo JSON and Bokeh</a:t>
            </a:r>
          </a:p>
          <a:p>
            <a:pPr>
              <a:buFont typeface="Wingdings" panose="05000000000000000000" pitchFamily="2" charset="2"/>
              <a:buChar char="Ø"/>
            </a:pPr>
            <a:r>
              <a:rPr lang="en-US" sz="2800" dirty="0"/>
              <a:t>Export the visualization to Netlify</a:t>
            </a:r>
          </a:p>
          <a:p>
            <a:pPr>
              <a:buFont typeface="Wingdings" panose="05000000000000000000" pitchFamily="2" charset="2"/>
              <a:buChar char="Ø"/>
            </a:pPr>
            <a:r>
              <a:rPr lang="en-US" sz="2800" dirty="0"/>
              <a:t>Tools used:</a:t>
            </a:r>
          </a:p>
          <a:p>
            <a:pPr lvl="1">
              <a:buFont typeface="Wingdings" panose="05000000000000000000" pitchFamily="2" charset="2"/>
              <a:buChar char="Ø"/>
            </a:pPr>
            <a:r>
              <a:rPr lang="en-US" sz="2400" dirty="0"/>
              <a:t>Google </a:t>
            </a:r>
            <a:r>
              <a:rPr lang="en-US" sz="2400" dirty="0" err="1"/>
              <a:t>Colab</a:t>
            </a:r>
            <a:r>
              <a:rPr lang="en-US" sz="2400" dirty="0"/>
              <a:t> Python Notebook</a:t>
            </a:r>
          </a:p>
          <a:p>
            <a:pPr lvl="1">
              <a:buFont typeface="Wingdings" panose="05000000000000000000" pitchFamily="2" charset="2"/>
              <a:buChar char="Ø"/>
            </a:pPr>
            <a:r>
              <a:rPr lang="en-US" sz="2400" dirty="0"/>
              <a:t>Pandas – data manipulation</a:t>
            </a:r>
          </a:p>
          <a:p>
            <a:pPr lvl="1">
              <a:buFont typeface="Wingdings" panose="05000000000000000000" pitchFamily="2" charset="2"/>
              <a:buChar char="Ø"/>
            </a:pPr>
            <a:r>
              <a:rPr lang="en-US" sz="2400" dirty="0"/>
              <a:t>Bokeh – data visualization</a:t>
            </a:r>
          </a:p>
        </p:txBody>
      </p:sp>
      <p:pic>
        <p:nvPicPr>
          <p:cNvPr id="4" name="Picture 3" descr="Coffee Beans">
            <a:extLst>
              <a:ext uri="{FF2B5EF4-FFF2-40B4-BE49-F238E27FC236}">
                <a16:creationId xmlns:a16="http://schemas.microsoft.com/office/drawing/2014/main" id="{207BE8B4-6768-16A8-B70A-A7A3E4B5F15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997" t="-24" r="55543" b="1627"/>
          <a:stretch>
            <a:fillRect/>
          </a:stretch>
        </p:blipFill>
        <p:spPr>
          <a:xfrm>
            <a:off x="0" y="0"/>
            <a:ext cx="2785242" cy="6864155"/>
          </a:xfrm>
          <a:prstGeom prst="rect">
            <a:avLst/>
          </a:prstGeom>
        </p:spPr>
      </p:pic>
      <p:sp>
        <p:nvSpPr>
          <p:cNvPr id="5" name="Title 1">
            <a:extLst>
              <a:ext uri="{FF2B5EF4-FFF2-40B4-BE49-F238E27FC236}">
                <a16:creationId xmlns:a16="http://schemas.microsoft.com/office/drawing/2014/main" id="{1F013B13-F25F-423B-1E70-3B2F0678722B}"/>
              </a:ext>
            </a:extLst>
          </p:cNvPr>
          <p:cNvSpPr txBox="1">
            <a:spLocks/>
          </p:cNvSpPr>
          <p:nvPr/>
        </p:nvSpPr>
        <p:spPr>
          <a:xfrm>
            <a:off x="3234906" y="497334"/>
            <a:ext cx="8578722" cy="1046311"/>
          </a:xfrm>
          <a:prstGeom prst="rect">
            <a:avLst/>
          </a:prstGeom>
        </p:spPr>
        <p:txBody>
          <a:bodyPr vert="horz" lIns="0" tIns="45720" rIns="18000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US" sz="4800" b="1" dirty="0">
                <a:solidFill>
                  <a:schemeClr val="tx1">
                    <a:lumMod val="85000"/>
                    <a:lumOff val="15000"/>
                  </a:schemeClr>
                </a:solidFill>
              </a:rPr>
              <a:t>Objective</a:t>
            </a:r>
          </a:p>
        </p:txBody>
      </p:sp>
    </p:spTree>
    <p:extLst>
      <p:ext uri="{BB962C8B-B14F-4D97-AF65-F5344CB8AC3E}">
        <p14:creationId xmlns:p14="http://schemas.microsoft.com/office/powerpoint/2010/main" val="4137732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20BAF6-8ADB-F776-FEC3-BA88C2793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0223A-D2A6-C65B-58EB-089BE4E97F37}"/>
              </a:ext>
            </a:extLst>
          </p:cNvPr>
          <p:cNvSpPr>
            <a:spLocks noGrp="1"/>
          </p:cNvSpPr>
          <p:nvPr>
            <p:ph type="title"/>
          </p:nvPr>
        </p:nvSpPr>
        <p:spPr>
          <a:xfrm>
            <a:off x="1024128" y="585216"/>
            <a:ext cx="3133581" cy="1499616"/>
          </a:xfrm>
        </p:spPr>
        <p:txBody>
          <a:bodyPr>
            <a:normAutofit/>
          </a:bodyPr>
          <a:lstStyle/>
          <a:p>
            <a:r>
              <a:rPr lang="en-US" sz="4000" b="1"/>
              <a:t>Dataset Overview</a:t>
            </a:r>
          </a:p>
        </p:txBody>
      </p:sp>
      <p:sp>
        <p:nvSpPr>
          <p:cNvPr id="4" name="Content Placeholder 3">
            <a:extLst>
              <a:ext uri="{FF2B5EF4-FFF2-40B4-BE49-F238E27FC236}">
                <a16:creationId xmlns:a16="http://schemas.microsoft.com/office/drawing/2014/main" id="{7AACB6A1-8E9F-60C8-AEC9-93D6F84E8F4E}"/>
              </a:ext>
            </a:extLst>
          </p:cNvPr>
          <p:cNvSpPr>
            <a:spLocks noGrp="1"/>
          </p:cNvSpPr>
          <p:nvPr>
            <p:ph idx="1"/>
          </p:nvPr>
        </p:nvSpPr>
        <p:spPr>
          <a:xfrm>
            <a:off x="1024128" y="2286000"/>
            <a:ext cx="3513366" cy="3931920"/>
          </a:xfrm>
        </p:spPr>
        <p:txBody>
          <a:bodyPr>
            <a:normAutofit/>
          </a:bodyPr>
          <a:lstStyle/>
          <a:p>
            <a:r>
              <a:rPr lang="en-CA" sz="2000" dirty="0"/>
              <a:t>Source: </a:t>
            </a:r>
            <a:r>
              <a:rPr lang="en-CA" sz="2000" dirty="0">
                <a:hlinkClick r:id="rId3"/>
              </a:rPr>
              <a:t>https://www.kaggle.com/datasets/uom190346a/global-coffee-health-dataset</a:t>
            </a:r>
            <a:endParaRPr lang="en-CA" sz="2000" dirty="0"/>
          </a:p>
          <a:p>
            <a:r>
              <a:rPr lang="en-CA" sz="2000" dirty="0"/>
              <a:t>Num. of rows: 10,000</a:t>
            </a:r>
          </a:p>
          <a:p>
            <a:r>
              <a:rPr lang="en-CA" sz="2000" dirty="0"/>
              <a:t>Num. of columns: 15</a:t>
            </a:r>
          </a:p>
          <a:p>
            <a:r>
              <a:rPr lang="en-CA" sz="2000" dirty="0"/>
              <a:t>Notes:</a:t>
            </a:r>
          </a:p>
          <a:p>
            <a:pPr lvl="1"/>
            <a:r>
              <a:rPr lang="en-CA" sz="2000" dirty="0"/>
              <a:t>All columns are filled in except for “Health Issues” which have null values</a:t>
            </a:r>
          </a:p>
        </p:txBody>
      </p:sp>
      <p:pic>
        <p:nvPicPr>
          <p:cNvPr id="5" name="Picture 4">
            <a:extLst>
              <a:ext uri="{FF2B5EF4-FFF2-40B4-BE49-F238E27FC236}">
                <a16:creationId xmlns:a16="http://schemas.microsoft.com/office/drawing/2014/main" id="{D9ED6CA4-C183-5844-AF77-D73A9DB9078E}"/>
              </a:ext>
            </a:extLst>
          </p:cNvPr>
          <p:cNvPicPr>
            <a:picLocks noChangeAspect="1"/>
          </p:cNvPicPr>
          <p:nvPr/>
        </p:nvPicPr>
        <p:blipFill>
          <a:blip r:embed="rId4"/>
          <a:srcRect t="772" b="1"/>
          <a:stretch>
            <a:fillRect/>
          </a:stretch>
        </p:blipFill>
        <p:spPr>
          <a:xfrm>
            <a:off x="4843502" y="640080"/>
            <a:ext cx="6507257" cy="5577840"/>
          </a:xfrm>
          <a:prstGeom prst="rect">
            <a:avLst/>
          </a:prstGeom>
        </p:spPr>
      </p:pic>
    </p:spTree>
    <p:extLst>
      <p:ext uri="{BB962C8B-B14F-4D97-AF65-F5344CB8AC3E}">
        <p14:creationId xmlns:p14="http://schemas.microsoft.com/office/powerpoint/2010/main" val="1446402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175783-0E4E-9BBF-787A-8A1292DC3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26106-A851-0917-8840-B7F54232A757}"/>
              </a:ext>
            </a:extLst>
          </p:cNvPr>
          <p:cNvSpPr>
            <a:spLocks noGrp="1"/>
          </p:cNvSpPr>
          <p:nvPr>
            <p:ph type="title"/>
          </p:nvPr>
        </p:nvSpPr>
        <p:spPr>
          <a:xfrm>
            <a:off x="1024128" y="585216"/>
            <a:ext cx="9720072" cy="1499616"/>
          </a:xfrm>
        </p:spPr>
        <p:txBody>
          <a:bodyPr>
            <a:normAutofit/>
          </a:bodyPr>
          <a:lstStyle/>
          <a:p>
            <a:r>
              <a:rPr lang="en-US" b="1" dirty="0"/>
              <a:t>Dataset Overview</a:t>
            </a:r>
          </a:p>
        </p:txBody>
      </p:sp>
      <p:graphicFrame>
        <p:nvGraphicFramePr>
          <p:cNvPr id="3" name="Content Placeholder 2">
            <a:extLst>
              <a:ext uri="{FF2B5EF4-FFF2-40B4-BE49-F238E27FC236}">
                <a16:creationId xmlns:a16="http://schemas.microsoft.com/office/drawing/2014/main" id="{C4B263CD-C88F-D8B2-4B26-1B10CC881774}"/>
              </a:ext>
            </a:extLst>
          </p:cNvPr>
          <p:cNvGraphicFramePr>
            <a:graphicFrameLocks noGrp="1"/>
          </p:cNvGraphicFramePr>
          <p:nvPr>
            <p:ph idx="1"/>
            <p:extLst>
              <p:ext uri="{D42A27DB-BD31-4B8C-83A1-F6EECF244321}">
                <p14:modId xmlns:p14="http://schemas.microsoft.com/office/powerpoint/2010/main" val="4143344327"/>
              </p:ext>
            </p:extLst>
          </p:nvPr>
        </p:nvGraphicFramePr>
        <p:xfrm>
          <a:off x="663327" y="2095088"/>
          <a:ext cx="5120502" cy="3994150"/>
        </p:xfrm>
        <a:graphic>
          <a:graphicData uri="http://schemas.openxmlformats.org/drawingml/2006/table">
            <a:tbl>
              <a:tblPr firstRow="1">
                <a:tableStyleId>{08FB837D-C827-4EFA-A057-4D05807E0F7C}</a:tableStyleId>
              </a:tblPr>
              <a:tblGrid>
                <a:gridCol w="1115131">
                  <a:extLst>
                    <a:ext uri="{9D8B030D-6E8A-4147-A177-3AD203B41FA5}">
                      <a16:colId xmlns:a16="http://schemas.microsoft.com/office/drawing/2014/main" val="844792612"/>
                    </a:ext>
                  </a:extLst>
                </a:gridCol>
                <a:gridCol w="936550">
                  <a:extLst>
                    <a:ext uri="{9D8B030D-6E8A-4147-A177-3AD203B41FA5}">
                      <a16:colId xmlns:a16="http://schemas.microsoft.com/office/drawing/2014/main" val="3570157113"/>
                    </a:ext>
                  </a:extLst>
                </a:gridCol>
                <a:gridCol w="3068821">
                  <a:extLst>
                    <a:ext uri="{9D8B030D-6E8A-4147-A177-3AD203B41FA5}">
                      <a16:colId xmlns:a16="http://schemas.microsoft.com/office/drawing/2014/main" val="3905003342"/>
                    </a:ext>
                  </a:extLst>
                </a:gridCol>
              </a:tblGrid>
              <a:tr h="159222">
                <a:tc>
                  <a:txBody>
                    <a:bodyPr/>
                    <a:lstStyle/>
                    <a:p>
                      <a:pPr algn="l" fontAlgn="ctr">
                        <a:lnSpc>
                          <a:spcPts val="1800"/>
                        </a:lnSpc>
                        <a:buNone/>
                      </a:pPr>
                      <a:r>
                        <a:rPr lang="en-CA" sz="1200" b="1" dirty="0">
                          <a:solidFill>
                            <a:schemeClr val="bg1"/>
                          </a:solidFill>
                          <a:effectLst/>
                          <a:latin typeface="+mn-lt"/>
                        </a:rPr>
                        <a:t>Column</a:t>
                      </a:r>
                    </a:p>
                  </a:txBody>
                  <a:tcPr marL="47790" marR="47790" marT="47790" marB="47790" anchor="ctr"/>
                </a:tc>
                <a:tc>
                  <a:txBody>
                    <a:bodyPr/>
                    <a:lstStyle/>
                    <a:p>
                      <a:pPr algn="l" fontAlgn="ctr">
                        <a:lnSpc>
                          <a:spcPts val="1800"/>
                        </a:lnSpc>
                        <a:buNone/>
                      </a:pPr>
                      <a:r>
                        <a:rPr lang="en-CA" sz="1200" b="1" dirty="0">
                          <a:solidFill>
                            <a:schemeClr val="bg1"/>
                          </a:solidFill>
                          <a:effectLst/>
                          <a:latin typeface="+mn-lt"/>
                        </a:rPr>
                        <a:t>Type</a:t>
                      </a:r>
                    </a:p>
                  </a:txBody>
                  <a:tcPr marL="47790" marR="47790" marT="47790" marB="47790" anchor="ctr"/>
                </a:tc>
                <a:tc>
                  <a:txBody>
                    <a:bodyPr/>
                    <a:lstStyle/>
                    <a:p>
                      <a:pPr algn="l" fontAlgn="ctr">
                        <a:lnSpc>
                          <a:spcPts val="1800"/>
                        </a:lnSpc>
                        <a:buNone/>
                      </a:pPr>
                      <a:r>
                        <a:rPr lang="en-CA" sz="1200" b="1" dirty="0">
                          <a:solidFill>
                            <a:schemeClr val="bg1"/>
                          </a:solidFill>
                          <a:effectLst/>
                          <a:latin typeface="+mn-lt"/>
                        </a:rPr>
                        <a:t>Description</a:t>
                      </a:r>
                    </a:p>
                  </a:txBody>
                  <a:tcPr marL="47790" marR="47790" marT="47790" marB="47790" anchor="ctr"/>
                </a:tc>
                <a:extLst>
                  <a:ext uri="{0D108BD9-81ED-4DB2-BD59-A6C34878D82A}">
                    <a16:rowId xmlns:a16="http://schemas.microsoft.com/office/drawing/2014/main" val="4016127268"/>
                  </a:ext>
                </a:extLst>
              </a:tr>
              <a:tr h="335660">
                <a:tc>
                  <a:txBody>
                    <a:bodyPr/>
                    <a:lstStyle/>
                    <a:p>
                      <a:pPr fontAlgn="ctr">
                        <a:buNone/>
                      </a:pPr>
                      <a:r>
                        <a:rPr lang="en-CA" sz="1200" b="1">
                          <a:solidFill>
                            <a:schemeClr val="bg1"/>
                          </a:solidFill>
                          <a:effectLst/>
                          <a:latin typeface="+mn-lt"/>
                        </a:rPr>
                        <a:t>ID</a:t>
                      </a:r>
                    </a:p>
                  </a:txBody>
                  <a:tcPr marL="47790" marR="47790" marT="47790" marB="47790" anchor="ctr"/>
                </a:tc>
                <a:tc>
                  <a:txBody>
                    <a:bodyPr/>
                    <a:lstStyle/>
                    <a:p>
                      <a:pPr fontAlgn="ctr">
                        <a:buNone/>
                      </a:pPr>
                      <a:r>
                        <a:rPr lang="en-CA" sz="1200">
                          <a:solidFill>
                            <a:schemeClr val="bg1"/>
                          </a:solidFill>
                          <a:effectLst/>
                          <a:latin typeface="+mn-lt"/>
                        </a:rPr>
                        <a:t>Integer</a:t>
                      </a:r>
                    </a:p>
                  </a:txBody>
                  <a:tcPr marL="47790" marR="47790" marT="47790" marB="47790" anchor="ctr"/>
                </a:tc>
                <a:tc>
                  <a:txBody>
                    <a:bodyPr/>
                    <a:lstStyle/>
                    <a:p>
                      <a:pPr fontAlgn="ctr">
                        <a:buNone/>
                      </a:pPr>
                      <a:r>
                        <a:rPr lang="en-CA" sz="1200">
                          <a:solidFill>
                            <a:schemeClr val="bg1"/>
                          </a:solidFill>
                          <a:effectLst/>
                          <a:latin typeface="+mn-lt"/>
                        </a:rPr>
                        <a:t>Unique record ID (1–10000)</a:t>
                      </a:r>
                    </a:p>
                  </a:txBody>
                  <a:tcPr marL="47790" marR="47790" marT="47790" marB="47790" anchor="ctr"/>
                </a:tc>
                <a:extLst>
                  <a:ext uri="{0D108BD9-81ED-4DB2-BD59-A6C34878D82A}">
                    <a16:rowId xmlns:a16="http://schemas.microsoft.com/office/drawing/2014/main" val="1367551114"/>
                  </a:ext>
                </a:extLst>
              </a:tr>
              <a:tr h="499775">
                <a:tc>
                  <a:txBody>
                    <a:bodyPr/>
                    <a:lstStyle/>
                    <a:p>
                      <a:pPr fontAlgn="ctr">
                        <a:buNone/>
                      </a:pPr>
                      <a:r>
                        <a:rPr lang="en-CA" sz="1200" b="1">
                          <a:solidFill>
                            <a:schemeClr val="bg1"/>
                          </a:solidFill>
                          <a:effectLst/>
                          <a:latin typeface="+mn-lt"/>
                        </a:rPr>
                        <a:t>Age</a:t>
                      </a:r>
                    </a:p>
                  </a:txBody>
                  <a:tcPr marL="47790" marR="47790" marT="47790" marB="47790" anchor="ctr">
                    <a:solidFill>
                      <a:srgbClr val="FFFFA7"/>
                    </a:solidFill>
                  </a:tcPr>
                </a:tc>
                <a:tc>
                  <a:txBody>
                    <a:bodyPr/>
                    <a:lstStyle/>
                    <a:p>
                      <a:pPr fontAlgn="ctr">
                        <a:buNone/>
                      </a:pPr>
                      <a:r>
                        <a:rPr lang="en-CA" sz="1200" dirty="0">
                          <a:solidFill>
                            <a:schemeClr val="bg1"/>
                          </a:solidFill>
                          <a:effectLst/>
                          <a:latin typeface="+mn-lt"/>
                        </a:rPr>
                        <a:t>Integer</a:t>
                      </a:r>
                    </a:p>
                  </a:txBody>
                  <a:tcPr marL="47790" marR="47790" marT="47790" marB="47790" anchor="ctr">
                    <a:solidFill>
                      <a:srgbClr val="FFFFA7"/>
                    </a:solidFill>
                  </a:tcPr>
                </a:tc>
                <a:tc>
                  <a:txBody>
                    <a:bodyPr/>
                    <a:lstStyle/>
                    <a:p>
                      <a:pPr fontAlgn="ctr">
                        <a:buNone/>
                      </a:pPr>
                      <a:r>
                        <a:rPr lang="en-US" sz="1200" dirty="0">
                          <a:solidFill>
                            <a:schemeClr val="bg1"/>
                          </a:solidFill>
                          <a:effectLst/>
                          <a:latin typeface="+mn-lt"/>
                        </a:rPr>
                        <a:t>Age of participant (18–80 years)</a:t>
                      </a:r>
                    </a:p>
                  </a:txBody>
                  <a:tcPr marL="47790" marR="47790" marT="47790" marB="47790" anchor="ctr">
                    <a:solidFill>
                      <a:srgbClr val="FFFFA7"/>
                    </a:solidFill>
                  </a:tcPr>
                </a:tc>
                <a:extLst>
                  <a:ext uri="{0D108BD9-81ED-4DB2-BD59-A6C34878D82A}">
                    <a16:rowId xmlns:a16="http://schemas.microsoft.com/office/drawing/2014/main" val="1530290262"/>
                  </a:ext>
                </a:extLst>
              </a:tr>
              <a:tr h="335660">
                <a:tc>
                  <a:txBody>
                    <a:bodyPr/>
                    <a:lstStyle/>
                    <a:p>
                      <a:pPr fontAlgn="ctr">
                        <a:buNone/>
                      </a:pPr>
                      <a:r>
                        <a:rPr lang="en-CA" sz="1200" b="1">
                          <a:solidFill>
                            <a:schemeClr val="bg1"/>
                          </a:solidFill>
                          <a:effectLst/>
                          <a:latin typeface="+mn-lt"/>
                        </a:rPr>
                        <a:t>Gender</a:t>
                      </a:r>
                    </a:p>
                  </a:txBody>
                  <a:tcPr marL="47790" marR="47790" marT="47790" marB="47790" anchor="ctr"/>
                </a:tc>
                <a:tc>
                  <a:txBody>
                    <a:bodyPr/>
                    <a:lstStyle/>
                    <a:p>
                      <a:pPr fontAlgn="ctr">
                        <a:buNone/>
                      </a:pPr>
                      <a:r>
                        <a:rPr lang="en-CA" sz="1200">
                          <a:solidFill>
                            <a:schemeClr val="bg1"/>
                          </a:solidFill>
                          <a:effectLst/>
                          <a:latin typeface="+mn-lt"/>
                        </a:rPr>
                        <a:t>Categorical</a:t>
                      </a:r>
                    </a:p>
                  </a:txBody>
                  <a:tcPr marL="47790" marR="47790" marT="47790" marB="47790" anchor="ctr"/>
                </a:tc>
                <a:tc>
                  <a:txBody>
                    <a:bodyPr/>
                    <a:lstStyle/>
                    <a:p>
                      <a:pPr fontAlgn="ctr">
                        <a:buNone/>
                      </a:pPr>
                      <a:r>
                        <a:rPr lang="en-CA" sz="1200">
                          <a:solidFill>
                            <a:schemeClr val="bg1"/>
                          </a:solidFill>
                          <a:effectLst/>
                          <a:latin typeface="+mn-lt"/>
                        </a:rPr>
                        <a:t>Male, Female, Other</a:t>
                      </a:r>
                    </a:p>
                  </a:txBody>
                  <a:tcPr marL="47790" marR="47790" marT="47790" marB="47790" anchor="ctr"/>
                </a:tc>
                <a:extLst>
                  <a:ext uri="{0D108BD9-81ED-4DB2-BD59-A6C34878D82A}">
                    <a16:rowId xmlns:a16="http://schemas.microsoft.com/office/drawing/2014/main" val="3835373748"/>
                  </a:ext>
                </a:extLst>
              </a:tr>
              <a:tr h="499775">
                <a:tc>
                  <a:txBody>
                    <a:bodyPr/>
                    <a:lstStyle/>
                    <a:p>
                      <a:pPr fontAlgn="ctr">
                        <a:buNone/>
                      </a:pPr>
                      <a:r>
                        <a:rPr lang="en-CA" sz="1200" b="1">
                          <a:solidFill>
                            <a:schemeClr val="bg1"/>
                          </a:solidFill>
                          <a:effectLst/>
                          <a:latin typeface="+mn-lt"/>
                        </a:rPr>
                        <a:t>Country</a:t>
                      </a:r>
                    </a:p>
                  </a:txBody>
                  <a:tcPr marL="47790" marR="47790" marT="47790" marB="47790" anchor="ctr">
                    <a:solidFill>
                      <a:srgbClr val="FFFFA7"/>
                    </a:solidFill>
                  </a:tcPr>
                </a:tc>
                <a:tc>
                  <a:txBody>
                    <a:bodyPr/>
                    <a:lstStyle/>
                    <a:p>
                      <a:pPr fontAlgn="ctr">
                        <a:buNone/>
                      </a:pPr>
                      <a:r>
                        <a:rPr lang="en-CA" sz="1200">
                          <a:solidFill>
                            <a:schemeClr val="bg1"/>
                          </a:solidFill>
                          <a:effectLst/>
                          <a:latin typeface="+mn-lt"/>
                        </a:rPr>
                        <a:t>Categorical</a:t>
                      </a:r>
                    </a:p>
                  </a:txBody>
                  <a:tcPr marL="47790" marR="47790" marT="47790" marB="47790" anchor="ctr">
                    <a:solidFill>
                      <a:srgbClr val="FFFFA7"/>
                    </a:solidFill>
                  </a:tcPr>
                </a:tc>
                <a:tc>
                  <a:txBody>
                    <a:bodyPr/>
                    <a:lstStyle/>
                    <a:p>
                      <a:pPr fontAlgn="ctr">
                        <a:buNone/>
                      </a:pPr>
                      <a:r>
                        <a:rPr lang="en-US" sz="1200" dirty="0">
                          <a:solidFill>
                            <a:schemeClr val="bg1"/>
                          </a:solidFill>
                          <a:effectLst/>
                          <a:latin typeface="+mn-lt"/>
                        </a:rPr>
                        <a:t>Country of residence (20 countries)</a:t>
                      </a:r>
                    </a:p>
                  </a:txBody>
                  <a:tcPr marL="47790" marR="47790" marT="47790" marB="47790" anchor="ctr">
                    <a:solidFill>
                      <a:srgbClr val="FFFFA7"/>
                    </a:solidFill>
                  </a:tcPr>
                </a:tc>
                <a:extLst>
                  <a:ext uri="{0D108BD9-81ED-4DB2-BD59-A6C34878D82A}">
                    <a16:rowId xmlns:a16="http://schemas.microsoft.com/office/drawing/2014/main" val="1517030244"/>
                  </a:ext>
                </a:extLst>
              </a:tr>
              <a:tr h="499775">
                <a:tc>
                  <a:txBody>
                    <a:bodyPr/>
                    <a:lstStyle/>
                    <a:p>
                      <a:pPr fontAlgn="ctr">
                        <a:buNone/>
                      </a:pPr>
                      <a:r>
                        <a:rPr lang="en-CA" sz="1200" b="1" dirty="0" err="1">
                          <a:solidFill>
                            <a:schemeClr val="bg1"/>
                          </a:solidFill>
                          <a:effectLst/>
                          <a:latin typeface="+mn-lt"/>
                        </a:rPr>
                        <a:t>Coffee_Intake</a:t>
                      </a:r>
                      <a:endParaRPr lang="en-CA" sz="1200" b="1" dirty="0">
                        <a:solidFill>
                          <a:schemeClr val="bg1"/>
                        </a:solidFill>
                        <a:effectLst/>
                        <a:latin typeface="+mn-lt"/>
                      </a:endParaRPr>
                    </a:p>
                  </a:txBody>
                  <a:tcPr marL="47790" marR="47790" marT="47790" marB="47790" anchor="ctr"/>
                </a:tc>
                <a:tc>
                  <a:txBody>
                    <a:bodyPr/>
                    <a:lstStyle/>
                    <a:p>
                      <a:pPr fontAlgn="ctr">
                        <a:buNone/>
                      </a:pPr>
                      <a:r>
                        <a:rPr lang="en-CA" sz="1200">
                          <a:solidFill>
                            <a:schemeClr val="bg1"/>
                          </a:solidFill>
                          <a:effectLst/>
                          <a:latin typeface="+mn-lt"/>
                        </a:rPr>
                        <a:t>Float</a:t>
                      </a:r>
                    </a:p>
                  </a:txBody>
                  <a:tcPr marL="47790" marR="47790" marT="47790" marB="47790" anchor="ctr"/>
                </a:tc>
                <a:tc>
                  <a:txBody>
                    <a:bodyPr/>
                    <a:lstStyle/>
                    <a:p>
                      <a:pPr fontAlgn="ctr">
                        <a:buNone/>
                      </a:pPr>
                      <a:r>
                        <a:rPr lang="en-US" sz="1200" dirty="0">
                          <a:solidFill>
                            <a:schemeClr val="bg1"/>
                          </a:solidFill>
                          <a:effectLst/>
                          <a:latin typeface="+mn-lt"/>
                        </a:rPr>
                        <a:t>Daily coffee consumption in cups (0–10)</a:t>
                      </a:r>
                    </a:p>
                  </a:txBody>
                  <a:tcPr marL="47790" marR="47790" marT="47790" marB="47790" anchor="ctr"/>
                </a:tc>
                <a:extLst>
                  <a:ext uri="{0D108BD9-81ED-4DB2-BD59-A6C34878D82A}">
                    <a16:rowId xmlns:a16="http://schemas.microsoft.com/office/drawing/2014/main" val="2493270189"/>
                  </a:ext>
                </a:extLst>
              </a:tr>
              <a:tr h="499775">
                <a:tc>
                  <a:txBody>
                    <a:bodyPr/>
                    <a:lstStyle/>
                    <a:p>
                      <a:pPr fontAlgn="ctr">
                        <a:buNone/>
                      </a:pPr>
                      <a:r>
                        <a:rPr lang="en-CA" sz="1200" b="1">
                          <a:solidFill>
                            <a:schemeClr val="bg1"/>
                          </a:solidFill>
                          <a:effectLst/>
                          <a:latin typeface="+mn-lt"/>
                        </a:rPr>
                        <a:t>Caffeine_mg</a:t>
                      </a:r>
                    </a:p>
                  </a:txBody>
                  <a:tcPr marL="47790" marR="47790" marT="47790" marB="47790" anchor="ctr">
                    <a:solidFill>
                      <a:srgbClr val="FFFFA7"/>
                    </a:solidFill>
                  </a:tcPr>
                </a:tc>
                <a:tc>
                  <a:txBody>
                    <a:bodyPr/>
                    <a:lstStyle/>
                    <a:p>
                      <a:pPr fontAlgn="ctr">
                        <a:buNone/>
                      </a:pPr>
                      <a:r>
                        <a:rPr lang="en-CA" sz="1200">
                          <a:solidFill>
                            <a:schemeClr val="bg1"/>
                          </a:solidFill>
                          <a:effectLst/>
                          <a:latin typeface="+mn-lt"/>
                        </a:rPr>
                        <a:t>Float</a:t>
                      </a:r>
                    </a:p>
                  </a:txBody>
                  <a:tcPr marL="47790" marR="47790" marT="47790" marB="47790" anchor="ctr">
                    <a:solidFill>
                      <a:srgbClr val="FFFFA7"/>
                    </a:solidFill>
                  </a:tcPr>
                </a:tc>
                <a:tc>
                  <a:txBody>
                    <a:bodyPr/>
                    <a:lstStyle/>
                    <a:p>
                      <a:pPr fontAlgn="ctr">
                        <a:buNone/>
                      </a:pPr>
                      <a:r>
                        <a:rPr lang="en-US" sz="1200" dirty="0">
                          <a:solidFill>
                            <a:schemeClr val="bg1"/>
                          </a:solidFill>
                          <a:effectLst/>
                          <a:latin typeface="+mn-lt"/>
                        </a:rPr>
                        <a:t>Estimated daily caffeine intake in mg</a:t>
                      </a:r>
                    </a:p>
                    <a:p>
                      <a:pPr fontAlgn="ctr">
                        <a:buNone/>
                      </a:pPr>
                      <a:r>
                        <a:rPr lang="en-US" sz="1200" b="1" dirty="0">
                          <a:solidFill>
                            <a:schemeClr val="bg1"/>
                          </a:solidFill>
                          <a:effectLst/>
                          <a:latin typeface="+mn-lt"/>
                        </a:rPr>
                        <a:t>(1 cup ≈ 95 mg)</a:t>
                      </a:r>
                    </a:p>
                  </a:txBody>
                  <a:tcPr marL="47790" marR="47790" marT="47790" marB="47790" anchor="ctr">
                    <a:solidFill>
                      <a:srgbClr val="FFFFA7"/>
                    </a:solidFill>
                  </a:tcPr>
                </a:tc>
                <a:extLst>
                  <a:ext uri="{0D108BD9-81ED-4DB2-BD59-A6C34878D82A}">
                    <a16:rowId xmlns:a16="http://schemas.microsoft.com/office/drawing/2014/main" val="2090755167"/>
                  </a:ext>
                </a:extLst>
              </a:tr>
              <a:tr h="499775">
                <a:tc>
                  <a:txBody>
                    <a:bodyPr/>
                    <a:lstStyle/>
                    <a:p>
                      <a:pPr fontAlgn="ctr">
                        <a:buNone/>
                      </a:pPr>
                      <a:r>
                        <a:rPr lang="en-CA" sz="1200" b="1">
                          <a:solidFill>
                            <a:schemeClr val="bg1"/>
                          </a:solidFill>
                          <a:effectLst/>
                          <a:latin typeface="+mn-lt"/>
                        </a:rPr>
                        <a:t>Sleep_Hours</a:t>
                      </a:r>
                    </a:p>
                  </a:txBody>
                  <a:tcPr marL="47790" marR="47790" marT="47790" marB="47790" anchor="ctr"/>
                </a:tc>
                <a:tc>
                  <a:txBody>
                    <a:bodyPr/>
                    <a:lstStyle/>
                    <a:p>
                      <a:pPr fontAlgn="ctr">
                        <a:buNone/>
                      </a:pPr>
                      <a:r>
                        <a:rPr lang="en-CA" sz="1200">
                          <a:solidFill>
                            <a:schemeClr val="bg1"/>
                          </a:solidFill>
                          <a:effectLst/>
                          <a:latin typeface="+mn-lt"/>
                        </a:rPr>
                        <a:t>Float</a:t>
                      </a:r>
                    </a:p>
                  </a:txBody>
                  <a:tcPr marL="47790" marR="47790" marT="47790" marB="47790" anchor="ctr"/>
                </a:tc>
                <a:tc>
                  <a:txBody>
                    <a:bodyPr/>
                    <a:lstStyle/>
                    <a:p>
                      <a:pPr fontAlgn="ctr">
                        <a:buNone/>
                      </a:pPr>
                      <a:r>
                        <a:rPr lang="en-US" sz="1200">
                          <a:solidFill>
                            <a:schemeClr val="bg1"/>
                          </a:solidFill>
                          <a:effectLst/>
                          <a:latin typeface="+mn-lt"/>
                        </a:rPr>
                        <a:t>Average hours of sleep per night (3–10 hours)</a:t>
                      </a:r>
                    </a:p>
                  </a:txBody>
                  <a:tcPr marL="47790" marR="47790" marT="47790" marB="47790" anchor="ctr"/>
                </a:tc>
                <a:extLst>
                  <a:ext uri="{0D108BD9-81ED-4DB2-BD59-A6C34878D82A}">
                    <a16:rowId xmlns:a16="http://schemas.microsoft.com/office/drawing/2014/main" val="335612280"/>
                  </a:ext>
                </a:extLst>
              </a:tr>
              <a:tr h="499775">
                <a:tc>
                  <a:txBody>
                    <a:bodyPr/>
                    <a:lstStyle/>
                    <a:p>
                      <a:pPr fontAlgn="ctr">
                        <a:buNone/>
                      </a:pPr>
                      <a:r>
                        <a:rPr lang="en-CA" sz="1200" b="1" dirty="0" err="1">
                          <a:solidFill>
                            <a:schemeClr val="bg1"/>
                          </a:solidFill>
                          <a:effectLst/>
                          <a:latin typeface="+mn-lt"/>
                        </a:rPr>
                        <a:t>Sleep_Quality</a:t>
                      </a:r>
                      <a:endParaRPr lang="en-CA" sz="1200" b="1" dirty="0">
                        <a:solidFill>
                          <a:schemeClr val="bg1"/>
                        </a:solidFill>
                        <a:effectLst/>
                        <a:latin typeface="+mn-lt"/>
                      </a:endParaRPr>
                    </a:p>
                  </a:txBody>
                  <a:tcPr marL="47790" marR="47790" marT="47790" marB="47790" anchor="ctr"/>
                </a:tc>
                <a:tc>
                  <a:txBody>
                    <a:bodyPr/>
                    <a:lstStyle/>
                    <a:p>
                      <a:pPr fontAlgn="ctr">
                        <a:buNone/>
                      </a:pPr>
                      <a:r>
                        <a:rPr lang="en-CA" sz="1200">
                          <a:solidFill>
                            <a:schemeClr val="bg1"/>
                          </a:solidFill>
                          <a:effectLst/>
                          <a:latin typeface="+mn-lt"/>
                        </a:rPr>
                        <a:t>Categorical</a:t>
                      </a:r>
                    </a:p>
                  </a:txBody>
                  <a:tcPr marL="47790" marR="47790" marT="47790" marB="47790" anchor="ctr"/>
                </a:tc>
                <a:tc>
                  <a:txBody>
                    <a:bodyPr/>
                    <a:lstStyle/>
                    <a:p>
                      <a:pPr fontAlgn="ctr">
                        <a:buNone/>
                      </a:pPr>
                      <a:r>
                        <a:rPr lang="en-US" sz="1200" dirty="0">
                          <a:solidFill>
                            <a:schemeClr val="bg1"/>
                          </a:solidFill>
                          <a:effectLst/>
                          <a:latin typeface="+mn-lt"/>
                        </a:rPr>
                        <a:t>Poor, Fair, Good, Excellent (based on sleep hours)</a:t>
                      </a:r>
                    </a:p>
                  </a:txBody>
                  <a:tcPr marL="47790" marR="47790" marT="47790" marB="47790" anchor="ctr"/>
                </a:tc>
                <a:extLst>
                  <a:ext uri="{0D108BD9-81ED-4DB2-BD59-A6C34878D82A}">
                    <a16:rowId xmlns:a16="http://schemas.microsoft.com/office/drawing/2014/main" val="3866946264"/>
                  </a:ext>
                </a:extLst>
              </a:tr>
            </a:tbl>
          </a:graphicData>
        </a:graphic>
      </p:graphicFrame>
      <p:graphicFrame>
        <p:nvGraphicFramePr>
          <p:cNvPr id="5" name="Table 4">
            <a:extLst>
              <a:ext uri="{FF2B5EF4-FFF2-40B4-BE49-F238E27FC236}">
                <a16:creationId xmlns:a16="http://schemas.microsoft.com/office/drawing/2014/main" id="{2227308B-50AC-67E2-ABAC-04FCFDC85918}"/>
              </a:ext>
            </a:extLst>
          </p:cNvPr>
          <p:cNvGraphicFramePr>
            <a:graphicFrameLocks noGrp="1"/>
          </p:cNvGraphicFramePr>
          <p:nvPr>
            <p:extLst>
              <p:ext uri="{D42A27DB-BD31-4B8C-83A1-F6EECF244321}">
                <p14:modId xmlns:p14="http://schemas.microsoft.com/office/powerpoint/2010/main" val="2908282458"/>
              </p:ext>
            </p:extLst>
          </p:nvPr>
        </p:nvGraphicFramePr>
        <p:xfrm>
          <a:off x="5884164" y="2095088"/>
          <a:ext cx="5432673" cy="2968214"/>
        </p:xfrm>
        <a:graphic>
          <a:graphicData uri="http://schemas.openxmlformats.org/drawingml/2006/table">
            <a:tbl>
              <a:tblPr firstRow="1">
                <a:tableStyleId>{08FB837D-C827-4EFA-A057-4D05807E0F7C}</a:tableStyleId>
              </a:tblPr>
              <a:tblGrid>
                <a:gridCol w="1688488">
                  <a:extLst>
                    <a:ext uri="{9D8B030D-6E8A-4147-A177-3AD203B41FA5}">
                      <a16:colId xmlns:a16="http://schemas.microsoft.com/office/drawing/2014/main" val="2727837206"/>
                    </a:ext>
                  </a:extLst>
                </a:gridCol>
                <a:gridCol w="994299">
                  <a:extLst>
                    <a:ext uri="{9D8B030D-6E8A-4147-A177-3AD203B41FA5}">
                      <a16:colId xmlns:a16="http://schemas.microsoft.com/office/drawing/2014/main" val="3188022968"/>
                    </a:ext>
                  </a:extLst>
                </a:gridCol>
                <a:gridCol w="2749886">
                  <a:extLst>
                    <a:ext uri="{9D8B030D-6E8A-4147-A177-3AD203B41FA5}">
                      <a16:colId xmlns:a16="http://schemas.microsoft.com/office/drawing/2014/main" val="3057503459"/>
                    </a:ext>
                  </a:extLst>
                </a:gridCol>
              </a:tblGrid>
              <a:tr h="346271">
                <a:tc>
                  <a:txBody>
                    <a:bodyPr/>
                    <a:lstStyle/>
                    <a:p>
                      <a:pPr fontAlgn="ctr">
                        <a:buNone/>
                      </a:pPr>
                      <a:r>
                        <a:rPr lang="en-CA" sz="1200" b="1" dirty="0">
                          <a:solidFill>
                            <a:schemeClr val="bg1"/>
                          </a:solidFill>
                          <a:effectLst/>
                          <a:latin typeface="+mn-lt"/>
                        </a:rPr>
                        <a:t>Column</a:t>
                      </a:r>
                    </a:p>
                  </a:txBody>
                  <a:tcPr marL="47790" marR="47790" marT="47790" marB="47790" anchor="ctr"/>
                </a:tc>
                <a:tc>
                  <a:txBody>
                    <a:bodyPr/>
                    <a:lstStyle/>
                    <a:p>
                      <a:pPr fontAlgn="ctr">
                        <a:buNone/>
                      </a:pPr>
                      <a:r>
                        <a:rPr lang="en-CA" sz="1200" dirty="0">
                          <a:solidFill>
                            <a:schemeClr val="bg1"/>
                          </a:solidFill>
                          <a:effectLst/>
                          <a:latin typeface="+mn-lt"/>
                        </a:rPr>
                        <a:t>Type</a:t>
                      </a:r>
                    </a:p>
                  </a:txBody>
                  <a:tcPr marL="47790" marR="47790" marT="47790" marB="47790" anchor="ctr"/>
                </a:tc>
                <a:tc>
                  <a:txBody>
                    <a:bodyPr/>
                    <a:lstStyle/>
                    <a:p>
                      <a:pPr fontAlgn="ctr">
                        <a:buNone/>
                      </a:pPr>
                      <a:r>
                        <a:rPr lang="en-CA" sz="1200" dirty="0">
                          <a:solidFill>
                            <a:schemeClr val="bg1"/>
                          </a:solidFill>
                          <a:effectLst/>
                          <a:latin typeface="+mn-lt"/>
                        </a:rPr>
                        <a:t>Description</a:t>
                      </a:r>
                    </a:p>
                  </a:txBody>
                  <a:tcPr marL="47790" marR="47790" marT="47790" marB="47790" anchor="ctr"/>
                </a:tc>
                <a:extLst>
                  <a:ext uri="{0D108BD9-81ED-4DB2-BD59-A6C34878D82A}">
                    <a16:rowId xmlns:a16="http://schemas.microsoft.com/office/drawing/2014/main" val="3232381544"/>
                  </a:ext>
                </a:extLst>
              </a:tr>
              <a:tr h="193401">
                <a:tc>
                  <a:txBody>
                    <a:bodyPr/>
                    <a:lstStyle/>
                    <a:p>
                      <a:pPr fontAlgn="ctr">
                        <a:buNone/>
                      </a:pPr>
                      <a:r>
                        <a:rPr lang="en-CA" sz="1200" b="1" dirty="0">
                          <a:solidFill>
                            <a:schemeClr val="bg1"/>
                          </a:solidFill>
                          <a:effectLst/>
                          <a:latin typeface="+mn-lt"/>
                        </a:rPr>
                        <a:t>BMI</a:t>
                      </a:r>
                    </a:p>
                  </a:txBody>
                  <a:tcPr marL="47790" marR="47790" marT="47790" marB="47790" anchor="ctr"/>
                </a:tc>
                <a:tc>
                  <a:txBody>
                    <a:bodyPr/>
                    <a:lstStyle/>
                    <a:p>
                      <a:pPr fontAlgn="ctr">
                        <a:buNone/>
                      </a:pPr>
                      <a:r>
                        <a:rPr lang="en-CA" sz="1200">
                          <a:solidFill>
                            <a:schemeClr val="bg1"/>
                          </a:solidFill>
                          <a:effectLst/>
                          <a:latin typeface="+mn-lt"/>
                        </a:rPr>
                        <a:t>Float</a:t>
                      </a:r>
                    </a:p>
                  </a:txBody>
                  <a:tcPr marL="47790" marR="47790" marT="47790" marB="47790" anchor="ctr"/>
                </a:tc>
                <a:tc>
                  <a:txBody>
                    <a:bodyPr/>
                    <a:lstStyle/>
                    <a:p>
                      <a:pPr fontAlgn="ctr">
                        <a:buNone/>
                      </a:pPr>
                      <a:r>
                        <a:rPr lang="en-CA" sz="1200" dirty="0">
                          <a:solidFill>
                            <a:schemeClr val="bg1"/>
                          </a:solidFill>
                          <a:effectLst/>
                          <a:latin typeface="+mn-lt"/>
                        </a:rPr>
                        <a:t>Body Mass Index (15–40)</a:t>
                      </a:r>
                    </a:p>
                  </a:txBody>
                  <a:tcPr marL="47790" marR="47790" marT="47790" marB="47790" anchor="ctr"/>
                </a:tc>
                <a:extLst>
                  <a:ext uri="{0D108BD9-81ED-4DB2-BD59-A6C34878D82A}">
                    <a16:rowId xmlns:a16="http://schemas.microsoft.com/office/drawing/2014/main" val="2363368412"/>
                  </a:ext>
                </a:extLst>
              </a:tr>
              <a:tr h="287961">
                <a:tc>
                  <a:txBody>
                    <a:bodyPr/>
                    <a:lstStyle/>
                    <a:p>
                      <a:pPr fontAlgn="ctr">
                        <a:buNone/>
                      </a:pPr>
                      <a:r>
                        <a:rPr lang="en-CA" sz="1200" b="1" dirty="0" err="1">
                          <a:solidFill>
                            <a:schemeClr val="bg1"/>
                          </a:solidFill>
                          <a:effectLst/>
                          <a:latin typeface="+mn-lt"/>
                        </a:rPr>
                        <a:t>Heart_Rate</a:t>
                      </a:r>
                      <a:endParaRPr lang="en-CA" sz="1200" b="1" dirty="0">
                        <a:solidFill>
                          <a:schemeClr val="bg1"/>
                        </a:solidFill>
                        <a:effectLst/>
                        <a:latin typeface="+mn-lt"/>
                      </a:endParaRPr>
                    </a:p>
                  </a:txBody>
                  <a:tcPr marL="47790" marR="47790" marT="47790" marB="47790" anchor="ctr"/>
                </a:tc>
                <a:tc>
                  <a:txBody>
                    <a:bodyPr/>
                    <a:lstStyle/>
                    <a:p>
                      <a:pPr fontAlgn="ctr">
                        <a:buNone/>
                      </a:pPr>
                      <a:r>
                        <a:rPr lang="en-CA" sz="1200">
                          <a:solidFill>
                            <a:schemeClr val="bg1"/>
                          </a:solidFill>
                          <a:effectLst/>
                          <a:latin typeface="+mn-lt"/>
                        </a:rPr>
                        <a:t>Integer</a:t>
                      </a:r>
                    </a:p>
                  </a:txBody>
                  <a:tcPr marL="47790" marR="47790" marT="47790" marB="47790" anchor="ctr"/>
                </a:tc>
                <a:tc>
                  <a:txBody>
                    <a:bodyPr/>
                    <a:lstStyle/>
                    <a:p>
                      <a:pPr fontAlgn="ctr">
                        <a:buNone/>
                      </a:pPr>
                      <a:r>
                        <a:rPr lang="en-US" sz="1200">
                          <a:solidFill>
                            <a:schemeClr val="bg1"/>
                          </a:solidFill>
                          <a:effectLst/>
                          <a:latin typeface="+mn-lt"/>
                        </a:rPr>
                        <a:t>Resting heart rate (50–110 bpm)</a:t>
                      </a:r>
                    </a:p>
                  </a:txBody>
                  <a:tcPr marL="47790" marR="47790" marT="47790" marB="47790" anchor="ctr"/>
                </a:tc>
                <a:extLst>
                  <a:ext uri="{0D108BD9-81ED-4DB2-BD59-A6C34878D82A}">
                    <a16:rowId xmlns:a16="http://schemas.microsoft.com/office/drawing/2014/main" val="3918778467"/>
                  </a:ext>
                </a:extLst>
              </a:tr>
              <a:tr h="287961">
                <a:tc>
                  <a:txBody>
                    <a:bodyPr/>
                    <a:lstStyle/>
                    <a:p>
                      <a:pPr fontAlgn="ctr">
                        <a:buNone/>
                      </a:pPr>
                      <a:r>
                        <a:rPr lang="en-CA" sz="1200" b="1">
                          <a:solidFill>
                            <a:schemeClr val="bg1"/>
                          </a:solidFill>
                          <a:effectLst/>
                          <a:latin typeface="+mn-lt"/>
                        </a:rPr>
                        <a:t>Stress_Level</a:t>
                      </a:r>
                    </a:p>
                  </a:txBody>
                  <a:tcPr marL="47790" marR="47790" marT="47790" marB="47790" anchor="ctr"/>
                </a:tc>
                <a:tc>
                  <a:txBody>
                    <a:bodyPr/>
                    <a:lstStyle/>
                    <a:p>
                      <a:pPr fontAlgn="ctr">
                        <a:buNone/>
                      </a:pPr>
                      <a:r>
                        <a:rPr lang="en-CA" sz="1200">
                          <a:solidFill>
                            <a:schemeClr val="bg1"/>
                          </a:solidFill>
                          <a:effectLst/>
                          <a:latin typeface="+mn-lt"/>
                        </a:rPr>
                        <a:t>Categorical</a:t>
                      </a:r>
                    </a:p>
                  </a:txBody>
                  <a:tcPr marL="47790" marR="47790" marT="47790" marB="47790" anchor="ctr"/>
                </a:tc>
                <a:tc>
                  <a:txBody>
                    <a:bodyPr/>
                    <a:lstStyle/>
                    <a:p>
                      <a:pPr fontAlgn="ctr">
                        <a:buNone/>
                      </a:pPr>
                      <a:r>
                        <a:rPr lang="en-US" sz="1200">
                          <a:solidFill>
                            <a:schemeClr val="bg1"/>
                          </a:solidFill>
                          <a:effectLst/>
                          <a:latin typeface="+mn-lt"/>
                        </a:rPr>
                        <a:t>Low, Medium, High (based on sleep hours and lifestyle)</a:t>
                      </a:r>
                    </a:p>
                  </a:txBody>
                  <a:tcPr marL="47790" marR="47790" marT="47790" marB="47790" anchor="ctr"/>
                </a:tc>
                <a:extLst>
                  <a:ext uri="{0D108BD9-81ED-4DB2-BD59-A6C34878D82A}">
                    <a16:rowId xmlns:a16="http://schemas.microsoft.com/office/drawing/2014/main" val="3122155517"/>
                  </a:ext>
                </a:extLst>
              </a:tr>
              <a:tr h="287961">
                <a:tc>
                  <a:txBody>
                    <a:bodyPr/>
                    <a:lstStyle/>
                    <a:p>
                      <a:pPr fontAlgn="ctr">
                        <a:buNone/>
                      </a:pPr>
                      <a:r>
                        <a:rPr lang="en-CA" sz="1200" b="1" dirty="0" err="1">
                          <a:solidFill>
                            <a:schemeClr val="bg1"/>
                          </a:solidFill>
                          <a:effectLst/>
                          <a:latin typeface="+mn-lt"/>
                        </a:rPr>
                        <a:t>Physical_Activity_Hours</a:t>
                      </a:r>
                      <a:endParaRPr lang="en-CA" sz="1200" b="1" dirty="0">
                        <a:solidFill>
                          <a:schemeClr val="bg1"/>
                        </a:solidFill>
                        <a:effectLst/>
                        <a:latin typeface="+mn-lt"/>
                      </a:endParaRPr>
                    </a:p>
                  </a:txBody>
                  <a:tcPr marL="47790" marR="47790" marT="47790" marB="47790" anchor="ctr"/>
                </a:tc>
                <a:tc>
                  <a:txBody>
                    <a:bodyPr/>
                    <a:lstStyle/>
                    <a:p>
                      <a:pPr fontAlgn="ctr">
                        <a:buNone/>
                      </a:pPr>
                      <a:r>
                        <a:rPr lang="en-CA" sz="1200">
                          <a:solidFill>
                            <a:schemeClr val="bg1"/>
                          </a:solidFill>
                          <a:effectLst/>
                          <a:latin typeface="+mn-lt"/>
                        </a:rPr>
                        <a:t>Float</a:t>
                      </a:r>
                    </a:p>
                  </a:txBody>
                  <a:tcPr marL="47790" marR="47790" marT="47790" marB="47790" anchor="ctr"/>
                </a:tc>
                <a:tc>
                  <a:txBody>
                    <a:bodyPr/>
                    <a:lstStyle/>
                    <a:p>
                      <a:pPr fontAlgn="ctr">
                        <a:buNone/>
                      </a:pPr>
                      <a:r>
                        <a:rPr lang="en-US" sz="1200">
                          <a:solidFill>
                            <a:schemeClr val="bg1"/>
                          </a:solidFill>
                          <a:effectLst/>
                          <a:latin typeface="+mn-lt"/>
                        </a:rPr>
                        <a:t>Weekly physical activity (0–15 hours)</a:t>
                      </a:r>
                    </a:p>
                  </a:txBody>
                  <a:tcPr marL="47790" marR="47790" marT="47790" marB="47790" anchor="ctr"/>
                </a:tc>
                <a:extLst>
                  <a:ext uri="{0D108BD9-81ED-4DB2-BD59-A6C34878D82A}">
                    <a16:rowId xmlns:a16="http://schemas.microsoft.com/office/drawing/2014/main" val="2177081056"/>
                  </a:ext>
                </a:extLst>
              </a:tr>
              <a:tr h="382520">
                <a:tc>
                  <a:txBody>
                    <a:bodyPr/>
                    <a:lstStyle/>
                    <a:p>
                      <a:pPr fontAlgn="ctr">
                        <a:buNone/>
                      </a:pPr>
                      <a:r>
                        <a:rPr lang="en-CA" sz="1200" b="1">
                          <a:solidFill>
                            <a:schemeClr val="bg1"/>
                          </a:solidFill>
                          <a:effectLst/>
                          <a:latin typeface="+mn-lt"/>
                        </a:rPr>
                        <a:t>Health_Issues</a:t>
                      </a:r>
                    </a:p>
                  </a:txBody>
                  <a:tcPr marL="47790" marR="47790" marT="47790" marB="47790" anchor="ctr">
                    <a:solidFill>
                      <a:srgbClr val="FFFFA7"/>
                    </a:solidFill>
                  </a:tcPr>
                </a:tc>
                <a:tc>
                  <a:txBody>
                    <a:bodyPr/>
                    <a:lstStyle/>
                    <a:p>
                      <a:pPr fontAlgn="ctr">
                        <a:buNone/>
                      </a:pPr>
                      <a:r>
                        <a:rPr lang="en-CA" sz="1200">
                          <a:solidFill>
                            <a:schemeClr val="bg1"/>
                          </a:solidFill>
                          <a:effectLst/>
                          <a:latin typeface="+mn-lt"/>
                        </a:rPr>
                        <a:t>Categorical</a:t>
                      </a:r>
                    </a:p>
                  </a:txBody>
                  <a:tcPr marL="47790" marR="47790" marT="47790" marB="47790" anchor="ctr">
                    <a:solidFill>
                      <a:srgbClr val="FFFFA7"/>
                    </a:solidFill>
                  </a:tcPr>
                </a:tc>
                <a:tc>
                  <a:txBody>
                    <a:bodyPr/>
                    <a:lstStyle/>
                    <a:p>
                      <a:pPr fontAlgn="ctr">
                        <a:buNone/>
                      </a:pPr>
                      <a:r>
                        <a:rPr lang="en-US" sz="1200" dirty="0">
                          <a:solidFill>
                            <a:schemeClr val="bg1"/>
                          </a:solidFill>
                          <a:effectLst/>
                          <a:latin typeface="+mn-lt"/>
                        </a:rPr>
                        <a:t>None, Mild, Moderate, Severe (based on age, BMI, and sleep)</a:t>
                      </a:r>
                    </a:p>
                  </a:txBody>
                  <a:tcPr marL="47790" marR="47790" marT="47790" marB="47790" anchor="ctr">
                    <a:solidFill>
                      <a:srgbClr val="FFFFA7"/>
                    </a:solidFill>
                  </a:tcPr>
                </a:tc>
                <a:extLst>
                  <a:ext uri="{0D108BD9-81ED-4DB2-BD59-A6C34878D82A}">
                    <a16:rowId xmlns:a16="http://schemas.microsoft.com/office/drawing/2014/main" val="268452633"/>
                  </a:ext>
                </a:extLst>
              </a:tr>
              <a:tr h="287961">
                <a:tc>
                  <a:txBody>
                    <a:bodyPr/>
                    <a:lstStyle/>
                    <a:p>
                      <a:pPr fontAlgn="ctr">
                        <a:buNone/>
                      </a:pPr>
                      <a:r>
                        <a:rPr lang="en-CA" sz="1200" b="1">
                          <a:solidFill>
                            <a:schemeClr val="bg1"/>
                          </a:solidFill>
                          <a:effectLst/>
                          <a:latin typeface="+mn-lt"/>
                        </a:rPr>
                        <a:t>Occupation</a:t>
                      </a:r>
                    </a:p>
                  </a:txBody>
                  <a:tcPr marL="47790" marR="47790" marT="47790" marB="47790" anchor="ctr"/>
                </a:tc>
                <a:tc>
                  <a:txBody>
                    <a:bodyPr/>
                    <a:lstStyle/>
                    <a:p>
                      <a:pPr fontAlgn="ctr">
                        <a:buNone/>
                      </a:pPr>
                      <a:r>
                        <a:rPr lang="en-CA" sz="1200">
                          <a:solidFill>
                            <a:schemeClr val="bg1"/>
                          </a:solidFill>
                          <a:effectLst/>
                          <a:latin typeface="+mn-lt"/>
                        </a:rPr>
                        <a:t>Categorical</a:t>
                      </a:r>
                    </a:p>
                  </a:txBody>
                  <a:tcPr marL="47790" marR="47790" marT="47790" marB="47790" anchor="ctr"/>
                </a:tc>
                <a:tc>
                  <a:txBody>
                    <a:bodyPr/>
                    <a:lstStyle/>
                    <a:p>
                      <a:pPr fontAlgn="ctr">
                        <a:buNone/>
                      </a:pPr>
                      <a:r>
                        <a:rPr lang="en-US" sz="1200">
                          <a:solidFill>
                            <a:schemeClr val="bg1"/>
                          </a:solidFill>
                          <a:effectLst/>
                          <a:latin typeface="+mn-lt"/>
                        </a:rPr>
                        <a:t>Office, Healthcare, Student, Service, Other</a:t>
                      </a:r>
                    </a:p>
                  </a:txBody>
                  <a:tcPr marL="47790" marR="47790" marT="47790" marB="47790" anchor="ctr"/>
                </a:tc>
                <a:extLst>
                  <a:ext uri="{0D108BD9-81ED-4DB2-BD59-A6C34878D82A}">
                    <a16:rowId xmlns:a16="http://schemas.microsoft.com/office/drawing/2014/main" val="3749468637"/>
                  </a:ext>
                </a:extLst>
              </a:tr>
              <a:tr h="193401">
                <a:tc>
                  <a:txBody>
                    <a:bodyPr/>
                    <a:lstStyle/>
                    <a:p>
                      <a:pPr fontAlgn="ctr">
                        <a:buNone/>
                      </a:pPr>
                      <a:r>
                        <a:rPr lang="en-CA" sz="1200" b="1">
                          <a:solidFill>
                            <a:schemeClr val="bg1"/>
                          </a:solidFill>
                          <a:effectLst/>
                          <a:latin typeface="+mn-lt"/>
                        </a:rPr>
                        <a:t>Smoking</a:t>
                      </a:r>
                    </a:p>
                  </a:txBody>
                  <a:tcPr marL="47790" marR="47790" marT="47790" marB="47790" anchor="ctr"/>
                </a:tc>
                <a:tc>
                  <a:txBody>
                    <a:bodyPr/>
                    <a:lstStyle/>
                    <a:p>
                      <a:pPr fontAlgn="ctr">
                        <a:buNone/>
                      </a:pPr>
                      <a:r>
                        <a:rPr lang="en-CA" sz="1200">
                          <a:solidFill>
                            <a:schemeClr val="bg1"/>
                          </a:solidFill>
                          <a:effectLst/>
                          <a:latin typeface="+mn-lt"/>
                        </a:rPr>
                        <a:t>Boolean</a:t>
                      </a:r>
                    </a:p>
                  </a:txBody>
                  <a:tcPr marL="47790" marR="47790" marT="47790" marB="47790" anchor="ctr"/>
                </a:tc>
                <a:tc>
                  <a:txBody>
                    <a:bodyPr/>
                    <a:lstStyle/>
                    <a:p>
                      <a:pPr fontAlgn="ctr">
                        <a:buNone/>
                      </a:pPr>
                      <a:r>
                        <a:rPr lang="en-CA" sz="1200">
                          <a:solidFill>
                            <a:schemeClr val="bg1"/>
                          </a:solidFill>
                          <a:effectLst/>
                          <a:latin typeface="+mn-lt"/>
                        </a:rPr>
                        <a:t>0 = No, 1 = Yes</a:t>
                      </a:r>
                    </a:p>
                  </a:txBody>
                  <a:tcPr marL="47790" marR="47790" marT="47790" marB="47790" anchor="ctr"/>
                </a:tc>
                <a:extLst>
                  <a:ext uri="{0D108BD9-81ED-4DB2-BD59-A6C34878D82A}">
                    <a16:rowId xmlns:a16="http://schemas.microsoft.com/office/drawing/2014/main" val="289726322"/>
                  </a:ext>
                </a:extLst>
              </a:tr>
              <a:tr h="193401">
                <a:tc>
                  <a:txBody>
                    <a:bodyPr/>
                    <a:lstStyle/>
                    <a:p>
                      <a:pPr fontAlgn="ctr">
                        <a:buNone/>
                      </a:pPr>
                      <a:r>
                        <a:rPr lang="en-CA" sz="1200" b="1" dirty="0" err="1">
                          <a:solidFill>
                            <a:schemeClr val="bg1"/>
                          </a:solidFill>
                          <a:effectLst/>
                          <a:latin typeface="+mn-lt"/>
                        </a:rPr>
                        <a:t>Alcohol_Consumption</a:t>
                      </a:r>
                      <a:endParaRPr lang="en-CA" sz="1200" b="1" dirty="0">
                        <a:solidFill>
                          <a:schemeClr val="bg1"/>
                        </a:solidFill>
                        <a:effectLst/>
                        <a:latin typeface="+mn-lt"/>
                      </a:endParaRPr>
                    </a:p>
                  </a:txBody>
                  <a:tcPr marL="47790" marR="47790" marT="47790" marB="47790" anchor="ctr"/>
                </a:tc>
                <a:tc>
                  <a:txBody>
                    <a:bodyPr/>
                    <a:lstStyle/>
                    <a:p>
                      <a:pPr fontAlgn="ctr">
                        <a:buNone/>
                      </a:pPr>
                      <a:r>
                        <a:rPr lang="en-CA" sz="1200">
                          <a:solidFill>
                            <a:schemeClr val="bg1"/>
                          </a:solidFill>
                          <a:effectLst/>
                          <a:latin typeface="+mn-lt"/>
                        </a:rPr>
                        <a:t>Boolean</a:t>
                      </a:r>
                    </a:p>
                  </a:txBody>
                  <a:tcPr marL="47790" marR="47790" marT="47790" marB="47790" anchor="ctr"/>
                </a:tc>
                <a:tc>
                  <a:txBody>
                    <a:bodyPr/>
                    <a:lstStyle/>
                    <a:p>
                      <a:pPr fontAlgn="ctr">
                        <a:buNone/>
                      </a:pPr>
                      <a:r>
                        <a:rPr lang="en-CA" sz="1200" dirty="0">
                          <a:solidFill>
                            <a:schemeClr val="bg1"/>
                          </a:solidFill>
                          <a:effectLst/>
                          <a:latin typeface="+mn-lt"/>
                        </a:rPr>
                        <a:t>0 = No, 1 = Yes</a:t>
                      </a:r>
                    </a:p>
                  </a:txBody>
                  <a:tcPr marL="47790" marR="47790" marT="47790" marB="47790" anchor="ctr"/>
                </a:tc>
                <a:extLst>
                  <a:ext uri="{0D108BD9-81ED-4DB2-BD59-A6C34878D82A}">
                    <a16:rowId xmlns:a16="http://schemas.microsoft.com/office/drawing/2014/main" val="2309661516"/>
                  </a:ext>
                </a:extLst>
              </a:tr>
            </a:tbl>
          </a:graphicData>
        </a:graphic>
      </p:graphicFrame>
    </p:spTree>
    <p:extLst>
      <p:ext uri="{BB962C8B-B14F-4D97-AF65-F5344CB8AC3E}">
        <p14:creationId xmlns:p14="http://schemas.microsoft.com/office/powerpoint/2010/main" val="3479647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9FDE21-3BEC-78C8-E24C-C9DBE2DAB3D2}"/>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23430B4-C2B6-48DA-A79F-757492AF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A69C04-D53D-9617-D91B-91E64354E315}"/>
              </a:ext>
            </a:extLst>
          </p:cNvPr>
          <p:cNvSpPr>
            <a:spLocks noGrp="1"/>
          </p:cNvSpPr>
          <p:nvPr>
            <p:ph type="title"/>
          </p:nvPr>
        </p:nvSpPr>
        <p:spPr>
          <a:xfrm>
            <a:off x="1024128" y="459317"/>
            <a:ext cx="4389120" cy="1749552"/>
          </a:xfrm>
        </p:spPr>
        <p:txBody>
          <a:bodyPr>
            <a:normAutofit/>
          </a:bodyPr>
          <a:lstStyle/>
          <a:p>
            <a:r>
              <a:rPr lang="en-US" sz="3100" b="1" dirty="0"/>
              <a:t>Data Visualization</a:t>
            </a:r>
            <a:br>
              <a:rPr lang="en-US" sz="3100" b="1" dirty="0"/>
            </a:br>
            <a:r>
              <a:rPr lang="en-US" sz="3100" b="1" dirty="0"/>
              <a:t>Age Group and Health Issues vs </a:t>
            </a:r>
            <a:br>
              <a:rPr lang="en-US" sz="3100" b="1" dirty="0"/>
            </a:br>
            <a:r>
              <a:rPr lang="en-US" sz="3100" b="1" dirty="0"/>
              <a:t>Caffeine Intake (Mg)</a:t>
            </a:r>
          </a:p>
        </p:txBody>
      </p:sp>
      <p:cxnSp>
        <p:nvCxnSpPr>
          <p:cNvPr id="18" name="Straight Connector 17">
            <a:extLst>
              <a:ext uri="{FF2B5EF4-FFF2-40B4-BE49-F238E27FC236}">
                <a16:creationId xmlns:a16="http://schemas.microsoft.com/office/drawing/2014/main" id="{7153BDBF-1B08-496E-BED4-E0DE721A00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EB2DEBF9-2E4F-26CA-A035-79AF83BFB540}"/>
              </a:ext>
            </a:extLst>
          </p:cNvPr>
          <p:cNvSpPr>
            <a:spLocks noGrp="1"/>
          </p:cNvSpPr>
          <p:nvPr>
            <p:ph idx="1"/>
          </p:nvPr>
        </p:nvSpPr>
        <p:spPr>
          <a:xfrm>
            <a:off x="1024129" y="2286000"/>
            <a:ext cx="4389120" cy="3931920"/>
          </a:xfrm>
        </p:spPr>
        <p:txBody>
          <a:bodyPr>
            <a:normAutofit/>
          </a:bodyPr>
          <a:lstStyle/>
          <a:p>
            <a:pPr>
              <a:buFont typeface="Wingdings" panose="05000000000000000000" pitchFamily="2" charset="2"/>
              <a:buChar char="Ø"/>
            </a:pPr>
            <a:r>
              <a:rPr lang="en-CA" sz="1800" dirty="0"/>
              <a:t>Get the Caffeine Intake (mg) consumed by each individual based on their Health Issue category and Age Group</a:t>
            </a:r>
          </a:p>
          <a:p>
            <a:pPr>
              <a:buFont typeface="Wingdings" panose="05000000000000000000" pitchFamily="2" charset="2"/>
              <a:buChar char="Ø"/>
            </a:pPr>
            <a:r>
              <a:rPr lang="en-CA" sz="1800" dirty="0"/>
              <a:t>The data will be grouped by Age Group, and each Age Group will contain each unique Health Issue category (No Issues, Mild Moderate, Severe)</a:t>
            </a:r>
          </a:p>
          <a:p>
            <a:pPr>
              <a:buFont typeface="Wingdings" panose="05000000000000000000" pitchFamily="2" charset="2"/>
              <a:buChar char="Ø"/>
            </a:pPr>
            <a:r>
              <a:rPr lang="en-CA" sz="1800" dirty="0"/>
              <a:t>The plot pie on the right shows an overview of the count of each Health Issue category in our data set</a:t>
            </a:r>
          </a:p>
        </p:txBody>
      </p:sp>
      <p:pic>
        <p:nvPicPr>
          <p:cNvPr id="4" name="Picture 3">
            <a:extLst>
              <a:ext uri="{FF2B5EF4-FFF2-40B4-BE49-F238E27FC236}">
                <a16:creationId xmlns:a16="http://schemas.microsoft.com/office/drawing/2014/main" id="{644CDADE-0C43-40CD-4A96-75DB8A3C453B}"/>
              </a:ext>
            </a:extLst>
          </p:cNvPr>
          <p:cNvPicPr>
            <a:picLocks noChangeAspect="1"/>
          </p:cNvPicPr>
          <p:nvPr/>
        </p:nvPicPr>
        <p:blipFill>
          <a:blip r:embed="rId3"/>
          <a:stretch>
            <a:fillRect/>
          </a:stretch>
        </p:blipFill>
        <p:spPr>
          <a:xfrm>
            <a:off x="6635498" y="837377"/>
            <a:ext cx="4794502" cy="5183245"/>
          </a:xfrm>
          <a:prstGeom prst="rect">
            <a:avLst/>
          </a:prstGeom>
        </p:spPr>
      </p:pic>
    </p:spTree>
    <p:extLst>
      <p:ext uri="{BB962C8B-B14F-4D97-AF65-F5344CB8AC3E}">
        <p14:creationId xmlns:p14="http://schemas.microsoft.com/office/powerpoint/2010/main" val="55148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EB7A5C-A7F5-5401-09F2-20D2412A8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67FE6-3491-93DA-F4F2-C940691A1C9A}"/>
              </a:ext>
            </a:extLst>
          </p:cNvPr>
          <p:cNvSpPr>
            <a:spLocks noGrp="1"/>
          </p:cNvSpPr>
          <p:nvPr>
            <p:ph type="title"/>
          </p:nvPr>
        </p:nvSpPr>
        <p:spPr>
          <a:xfrm>
            <a:off x="1024128" y="585216"/>
            <a:ext cx="10387584" cy="1130568"/>
          </a:xfrm>
        </p:spPr>
        <p:txBody>
          <a:bodyPr>
            <a:noAutofit/>
          </a:bodyPr>
          <a:lstStyle/>
          <a:p>
            <a:r>
              <a:rPr lang="en-US" sz="3600" b="1" dirty="0"/>
              <a:t>Data Visualization</a:t>
            </a:r>
            <a:br>
              <a:rPr lang="en-US" sz="3600" b="1" dirty="0"/>
            </a:br>
            <a:r>
              <a:rPr lang="en-US" sz="3600" b="1" dirty="0"/>
              <a:t>Age Group and Health Issues vs Caffeine Intake (Mg)</a:t>
            </a:r>
          </a:p>
        </p:txBody>
      </p:sp>
      <p:sp>
        <p:nvSpPr>
          <p:cNvPr id="8" name="Content Placeholder 7">
            <a:extLst>
              <a:ext uri="{FF2B5EF4-FFF2-40B4-BE49-F238E27FC236}">
                <a16:creationId xmlns:a16="http://schemas.microsoft.com/office/drawing/2014/main" id="{D76F7512-F940-7438-C280-C2846D944D7F}"/>
              </a:ext>
            </a:extLst>
          </p:cNvPr>
          <p:cNvSpPr>
            <a:spLocks noGrp="1"/>
          </p:cNvSpPr>
          <p:nvPr>
            <p:ph idx="1"/>
          </p:nvPr>
        </p:nvSpPr>
        <p:spPr>
          <a:xfrm>
            <a:off x="1024128" y="2354139"/>
            <a:ext cx="4859087" cy="3305663"/>
          </a:xfrm>
        </p:spPr>
        <p:txBody>
          <a:bodyPr>
            <a:normAutofit/>
          </a:bodyPr>
          <a:lstStyle/>
          <a:p>
            <a:pPr>
              <a:buFont typeface="Wingdings" panose="05000000000000000000" pitchFamily="2" charset="2"/>
              <a:buChar char="Ø"/>
            </a:pPr>
            <a:r>
              <a:rPr lang="en-CA" sz="1800" dirty="0"/>
              <a:t>The Age Group will be determined by decade as shown in the table on the right</a:t>
            </a:r>
          </a:p>
        </p:txBody>
      </p:sp>
      <p:graphicFrame>
        <p:nvGraphicFramePr>
          <p:cNvPr id="3" name="Table 2">
            <a:extLst>
              <a:ext uri="{FF2B5EF4-FFF2-40B4-BE49-F238E27FC236}">
                <a16:creationId xmlns:a16="http://schemas.microsoft.com/office/drawing/2014/main" id="{9D15229A-5DE2-3E3B-EAFA-82619844C6AF}"/>
              </a:ext>
            </a:extLst>
          </p:cNvPr>
          <p:cNvGraphicFramePr>
            <a:graphicFrameLocks noGrp="1"/>
          </p:cNvGraphicFramePr>
          <p:nvPr>
            <p:extLst>
              <p:ext uri="{D42A27DB-BD31-4B8C-83A1-F6EECF244321}">
                <p14:modId xmlns:p14="http://schemas.microsoft.com/office/powerpoint/2010/main" val="171194621"/>
              </p:ext>
            </p:extLst>
          </p:nvPr>
        </p:nvGraphicFramePr>
        <p:xfrm>
          <a:off x="6096000" y="2354139"/>
          <a:ext cx="3845248" cy="3305664"/>
        </p:xfrm>
        <a:graphic>
          <a:graphicData uri="http://schemas.openxmlformats.org/drawingml/2006/table">
            <a:tbl>
              <a:tblPr firstRow="1" bandRow="1">
                <a:tableStyleId>{5C22544A-7EE6-4342-B048-85BDC9FD1C3A}</a:tableStyleId>
              </a:tblPr>
              <a:tblGrid>
                <a:gridCol w="1922624">
                  <a:extLst>
                    <a:ext uri="{9D8B030D-6E8A-4147-A177-3AD203B41FA5}">
                      <a16:colId xmlns:a16="http://schemas.microsoft.com/office/drawing/2014/main" val="1056117952"/>
                    </a:ext>
                  </a:extLst>
                </a:gridCol>
                <a:gridCol w="1922624">
                  <a:extLst>
                    <a:ext uri="{9D8B030D-6E8A-4147-A177-3AD203B41FA5}">
                      <a16:colId xmlns:a16="http://schemas.microsoft.com/office/drawing/2014/main" val="3969816765"/>
                    </a:ext>
                  </a:extLst>
                </a:gridCol>
              </a:tblGrid>
              <a:tr h="367296">
                <a:tc>
                  <a:txBody>
                    <a:bodyPr/>
                    <a:lstStyle/>
                    <a:p>
                      <a:r>
                        <a:rPr lang="en-CA" sz="1400" dirty="0"/>
                        <a:t>Age Group</a:t>
                      </a:r>
                    </a:p>
                  </a:txBody>
                  <a:tcPr/>
                </a:tc>
                <a:tc>
                  <a:txBody>
                    <a:bodyPr/>
                    <a:lstStyle/>
                    <a:p>
                      <a:r>
                        <a:rPr lang="en-CA" sz="1400" dirty="0"/>
                        <a:t>Ages Covered</a:t>
                      </a:r>
                    </a:p>
                  </a:txBody>
                  <a:tcPr/>
                </a:tc>
                <a:extLst>
                  <a:ext uri="{0D108BD9-81ED-4DB2-BD59-A6C34878D82A}">
                    <a16:rowId xmlns:a16="http://schemas.microsoft.com/office/drawing/2014/main" val="2982314491"/>
                  </a:ext>
                </a:extLst>
              </a:tr>
              <a:tr h="367296">
                <a:tc>
                  <a:txBody>
                    <a:bodyPr/>
                    <a:lstStyle/>
                    <a:p>
                      <a:r>
                        <a:rPr lang="en-CA" sz="1400" dirty="0"/>
                        <a:t>10s (teens)</a:t>
                      </a:r>
                    </a:p>
                  </a:txBody>
                  <a:tcPr/>
                </a:tc>
                <a:tc>
                  <a:txBody>
                    <a:bodyPr/>
                    <a:lstStyle/>
                    <a:p>
                      <a:r>
                        <a:rPr lang="en-CA" sz="1400" dirty="0"/>
                        <a:t>10 – 19 yrs. old</a:t>
                      </a:r>
                    </a:p>
                  </a:txBody>
                  <a:tcPr/>
                </a:tc>
                <a:extLst>
                  <a:ext uri="{0D108BD9-81ED-4DB2-BD59-A6C34878D82A}">
                    <a16:rowId xmlns:a16="http://schemas.microsoft.com/office/drawing/2014/main" val="827408128"/>
                  </a:ext>
                </a:extLst>
              </a:tr>
              <a:tr h="367296">
                <a:tc>
                  <a:txBody>
                    <a:bodyPr/>
                    <a:lstStyle/>
                    <a:p>
                      <a:r>
                        <a:rPr lang="en-CA" sz="1400" dirty="0"/>
                        <a:t>20s</a:t>
                      </a:r>
                    </a:p>
                  </a:txBody>
                  <a:tcPr/>
                </a:tc>
                <a:tc>
                  <a:txBody>
                    <a:bodyPr/>
                    <a:lstStyle/>
                    <a:p>
                      <a:r>
                        <a:rPr lang="en-CA" sz="1400" dirty="0"/>
                        <a:t>20 – 29 yrs</a:t>
                      </a:r>
                      <a:r>
                        <a:rPr lang="en-CA" sz="1400"/>
                        <a:t>. old</a:t>
                      </a:r>
                      <a:endParaRPr lang="en-CA" sz="1400" dirty="0"/>
                    </a:p>
                  </a:txBody>
                  <a:tcPr/>
                </a:tc>
                <a:extLst>
                  <a:ext uri="{0D108BD9-81ED-4DB2-BD59-A6C34878D82A}">
                    <a16:rowId xmlns:a16="http://schemas.microsoft.com/office/drawing/2014/main" val="1616300187"/>
                  </a:ext>
                </a:extLst>
              </a:tr>
              <a:tr h="367296">
                <a:tc>
                  <a:txBody>
                    <a:bodyPr/>
                    <a:lstStyle/>
                    <a:p>
                      <a:r>
                        <a:rPr lang="en-CA" sz="1400" dirty="0"/>
                        <a:t>30s</a:t>
                      </a:r>
                    </a:p>
                  </a:txBody>
                  <a:tcPr/>
                </a:tc>
                <a:tc>
                  <a:txBody>
                    <a:bodyPr/>
                    <a:lstStyle/>
                    <a:p>
                      <a:r>
                        <a:rPr lang="en-CA" sz="1400" dirty="0"/>
                        <a:t>30 – 39 yrs. old</a:t>
                      </a:r>
                    </a:p>
                  </a:txBody>
                  <a:tcPr/>
                </a:tc>
                <a:extLst>
                  <a:ext uri="{0D108BD9-81ED-4DB2-BD59-A6C34878D82A}">
                    <a16:rowId xmlns:a16="http://schemas.microsoft.com/office/drawing/2014/main" val="3446640036"/>
                  </a:ext>
                </a:extLst>
              </a:tr>
              <a:tr h="367296">
                <a:tc>
                  <a:txBody>
                    <a:bodyPr/>
                    <a:lstStyle/>
                    <a:p>
                      <a:r>
                        <a:rPr lang="en-CA" sz="1400" dirty="0"/>
                        <a:t>40s</a:t>
                      </a:r>
                    </a:p>
                  </a:txBody>
                  <a:tcPr/>
                </a:tc>
                <a:tc>
                  <a:txBody>
                    <a:bodyPr/>
                    <a:lstStyle/>
                    <a:p>
                      <a:r>
                        <a:rPr lang="en-CA" sz="1400" dirty="0"/>
                        <a:t>40 – 49 yrs</a:t>
                      </a:r>
                      <a:r>
                        <a:rPr lang="en-CA" sz="1400"/>
                        <a:t>. old</a:t>
                      </a:r>
                      <a:endParaRPr lang="en-CA" sz="1400" dirty="0"/>
                    </a:p>
                  </a:txBody>
                  <a:tcPr/>
                </a:tc>
                <a:extLst>
                  <a:ext uri="{0D108BD9-81ED-4DB2-BD59-A6C34878D82A}">
                    <a16:rowId xmlns:a16="http://schemas.microsoft.com/office/drawing/2014/main" val="2330481399"/>
                  </a:ext>
                </a:extLst>
              </a:tr>
              <a:tr h="367296">
                <a:tc>
                  <a:txBody>
                    <a:bodyPr/>
                    <a:lstStyle/>
                    <a:p>
                      <a:r>
                        <a:rPr lang="en-CA" sz="1400" dirty="0"/>
                        <a:t>50s</a:t>
                      </a:r>
                    </a:p>
                  </a:txBody>
                  <a:tcPr/>
                </a:tc>
                <a:tc>
                  <a:txBody>
                    <a:bodyPr/>
                    <a:lstStyle/>
                    <a:p>
                      <a:r>
                        <a:rPr lang="en-CA" sz="1400" dirty="0"/>
                        <a:t>50 – 59 yrs. old</a:t>
                      </a:r>
                    </a:p>
                  </a:txBody>
                  <a:tcPr/>
                </a:tc>
                <a:extLst>
                  <a:ext uri="{0D108BD9-81ED-4DB2-BD59-A6C34878D82A}">
                    <a16:rowId xmlns:a16="http://schemas.microsoft.com/office/drawing/2014/main" val="572793530"/>
                  </a:ext>
                </a:extLst>
              </a:tr>
              <a:tr h="367296">
                <a:tc>
                  <a:txBody>
                    <a:bodyPr/>
                    <a:lstStyle/>
                    <a:p>
                      <a:r>
                        <a:rPr lang="en-CA" sz="1400" dirty="0"/>
                        <a:t>60s</a:t>
                      </a:r>
                    </a:p>
                  </a:txBody>
                  <a:tcPr/>
                </a:tc>
                <a:tc>
                  <a:txBody>
                    <a:bodyPr/>
                    <a:lstStyle/>
                    <a:p>
                      <a:r>
                        <a:rPr lang="en-CA" sz="1400" dirty="0"/>
                        <a:t>60 – 69 yrs. old</a:t>
                      </a:r>
                    </a:p>
                  </a:txBody>
                  <a:tcPr/>
                </a:tc>
                <a:extLst>
                  <a:ext uri="{0D108BD9-81ED-4DB2-BD59-A6C34878D82A}">
                    <a16:rowId xmlns:a16="http://schemas.microsoft.com/office/drawing/2014/main" val="1390306653"/>
                  </a:ext>
                </a:extLst>
              </a:tr>
              <a:tr h="367296">
                <a:tc>
                  <a:txBody>
                    <a:bodyPr/>
                    <a:lstStyle/>
                    <a:p>
                      <a:r>
                        <a:rPr lang="en-CA" sz="1400" dirty="0"/>
                        <a:t>70s</a:t>
                      </a:r>
                    </a:p>
                  </a:txBody>
                  <a:tcPr/>
                </a:tc>
                <a:tc>
                  <a:txBody>
                    <a:bodyPr/>
                    <a:lstStyle/>
                    <a:p>
                      <a:r>
                        <a:rPr lang="en-CA" sz="1400" dirty="0"/>
                        <a:t>70 – 79 yrs</a:t>
                      </a:r>
                      <a:r>
                        <a:rPr lang="en-CA" sz="1400"/>
                        <a:t>. old</a:t>
                      </a:r>
                      <a:endParaRPr lang="en-CA" sz="1400" dirty="0"/>
                    </a:p>
                  </a:txBody>
                  <a:tcPr/>
                </a:tc>
                <a:extLst>
                  <a:ext uri="{0D108BD9-81ED-4DB2-BD59-A6C34878D82A}">
                    <a16:rowId xmlns:a16="http://schemas.microsoft.com/office/drawing/2014/main" val="392021244"/>
                  </a:ext>
                </a:extLst>
              </a:tr>
              <a:tr h="367296">
                <a:tc>
                  <a:txBody>
                    <a:bodyPr/>
                    <a:lstStyle/>
                    <a:p>
                      <a:r>
                        <a:rPr lang="en-CA" sz="1400" dirty="0"/>
                        <a:t>80s</a:t>
                      </a:r>
                    </a:p>
                  </a:txBody>
                  <a:tcPr/>
                </a:tc>
                <a:tc>
                  <a:txBody>
                    <a:bodyPr/>
                    <a:lstStyle/>
                    <a:p>
                      <a:r>
                        <a:rPr lang="en-CA" sz="1400" dirty="0"/>
                        <a:t>80 – 89 yrs. old</a:t>
                      </a:r>
                    </a:p>
                  </a:txBody>
                  <a:tcPr/>
                </a:tc>
                <a:extLst>
                  <a:ext uri="{0D108BD9-81ED-4DB2-BD59-A6C34878D82A}">
                    <a16:rowId xmlns:a16="http://schemas.microsoft.com/office/drawing/2014/main" val="887905457"/>
                  </a:ext>
                </a:extLst>
              </a:tr>
            </a:tbl>
          </a:graphicData>
        </a:graphic>
      </p:graphicFrame>
    </p:spTree>
    <p:extLst>
      <p:ext uri="{BB962C8B-B14F-4D97-AF65-F5344CB8AC3E}">
        <p14:creationId xmlns:p14="http://schemas.microsoft.com/office/powerpoint/2010/main" val="2129093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0CF00C-029A-3B9F-2C74-2689C6F18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3244B-1C7B-A05D-623B-48345DC3928E}"/>
              </a:ext>
            </a:extLst>
          </p:cNvPr>
          <p:cNvSpPr>
            <a:spLocks noGrp="1"/>
          </p:cNvSpPr>
          <p:nvPr>
            <p:ph type="title"/>
          </p:nvPr>
        </p:nvSpPr>
        <p:spPr>
          <a:xfrm>
            <a:off x="1024128" y="585216"/>
            <a:ext cx="10112574" cy="1130568"/>
          </a:xfrm>
        </p:spPr>
        <p:txBody>
          <a:bodyPr>
            <a:normAutofit/>
          </a:bodyPr>
          <a:lstStyle/>
          <a:p>
            <a:r>
              <a:rPr lang="en-US" sz="4000" b="1" dirty="0"/>
              <a:t>Forming the Age group</a:t>
            </a:r>
          </a:p>
        </p:txBody>
      </p:sp>
      <p:graphicFrame>
        <p:nvGraphicFramePr>
          <p:cNvPr id="3" name="Table 2">
            <a:extLst>
              <a:ext uri="{FF2B5EF4-FFF2-40B4-BE49-F238E27FC236}">
                <a16:creationId xmlns:a16="http://schemas.microsoft.com/office/drawing/2014/main" id="{52B5793B-6BA8-0791-AA74-72370285DD96}"/>
              </a:ext>
            </a:extLst>
          </p:cNvPr>
          <p:cNvGraphicFramePr>
            <a:graphicFrameLocks noGrp="1"/>
          </p:cNvGraphicFramePr>
          <p:nvPr>
            <p:extLst>
              <p:ext uri="{D42A27DB-BD31-4B8C-83A1-F6EECF244321}">
                <p14:modId xmlns:p14="http://schemas.microsoft.com/office/powerpoint/2010/main" val="2034497200"/>
              </p:ext>
            </p:extLst>
          </p:nvPr>
        </p:nvGraphicFramePr>
        <p:xfrm>
          <a:off x="1024128" y="3424687"/>
          <a:ext cx="3074622" cy="2743200"/>
        </p:xfrm>
        <a:graphic>
          <a:graphicData uri="http://schemas.openxmlformats.org/drawingml/2006/table">
            <a:tbl>
              <a:tblPr firstRow="1" bandRow="1">
                <a:tableStyleId>{5C22544A-7EE6-4342-B048-85BDC9FD1C3A}</a:tableStyleId>
              </a:tblPr>
              <a:tblGrid>
                <a:gridCol w="1537311">
                  <a:extLst>
                    <a:ext uri="{9D8B030D-6E8A-4147-A177-3AD203B41FA5}">
                      <a16:colId xmlns:a16="http://schemas.microsoft.com/office/drawing/2014/main" val="1056117952"/>
                    </a:ext>
                  </a:extLst>
                </a:gridCol>
                <a:gridCol w="1537311">
                  <a:extLst>
                    <a:ext uri="{9D8B030D-6E8A-4147-A177-3AD203B41FA5}">
                      <a16:colId xmlns:a16="http://schemas.microsoft.com/office/drawing/2014/main" val="3969816765"/>
                    </a:ext>
                  </a:extLst>
                </a:gridCol>
              </a:tblGrid>
              <a:tr h="303939">
                <a:tc>
                  <a:txBody>
                    <a:bodyPr/>
                    <a:lstStyle/>
                    <a:p>
                      <a:r>
                        <a:rPr lang="en-CA" sz="1400" dirty="0"/>
                        <a:t>Age Group</a:t>
                      </a:r>
                    </a:p>
                  </a:txBody>
                  <a:tcPr/>
                </a:tc>
                <a:tc>
                  <a:txBody>
                    <a:bodyPr/>
                    <a:lstStyle/>
                    <a:p>
                      <a:r>
                        <a:rPr lang="en-CA" sz="1400" dirty="0"/>
                        <a:t>Ages Covered</a:t>
                      </a:r>
                    </a:p>
                  </a:txBody>
                  <a:tcPr/>
                </a:tc>
                <a:extLst>
                  <a:ext uri="{0D108BD9-81ED-4DB2-BD59-A6C34878D82A}">
                    <a16:rowId xmlns:a16="http://schemas.microsoft.com/office/drawing/2014/main" val="2982314491"/>
                  </a:ext>
                </a:extLst>
              </a:tr>
              <a:tr h="303939">
                <a:tc>
                  <a:txBody>
                    <a:bodyPr/>
                    <a:lstStyle/>
                    <a:p>
                      <a:r>
                        <a:rPr lang="en-CA" sz="1400" dirty="0"/>
                        <a:t>10s (teens)</a:t>
                      </a:r>
                    </a:p>
                  </a:txBody>
                  <a:tcPr/>
                </a:tc>
                <a:tc>
                  <a:txBody>
                    <a:bodyPr/>
                    <a:lstStyle/>
                    <a:p>
                      <a:r>
                        <a:rPr lang="en-CA" sz="1400" dirty="0"/>
                        <a:t>10 – 19 yrs. old</a:t>
                      </a:r>
                    </a:p>
                  </a:txBody>
                  <a:tcPr/>
                </a:tc>
                <a:extLst>
                  <a:ext uri="{0D108BD9-81ED-4DB2-BD59-A6C34878D82A}">
                    <a16:rowId xmlns:a16="http://schemas.microsoft.com/office/drawing/2014/main" val="827408128"/>
                  </a:ext>
                </a:extLst>
              </a:tr>
              <a:tr h="303939">
                <a:tc>
                  <a:txBody>
                    <a:bodyPr/>
                    <a:lstStyle/>
                    <a:p>
                      <a:r>
                        <a:rPr lang="en-CA" sz="1400" dirty="0"/>
                        <a:t>20s</a:t>
                      </a:r>
                    </a:p>
                  </a:txBody>
                  <a:tcPr/>
                </a:tc>
                <a:tc>
                  <a:txBody>
                    <a:bodyPr/>
                    <a:lstStyle/>
                    <a:p>
                      <a:r>
                        <a:rPr lang="en-CA" sz="1400" dirty="0"/>
                        <a:t>20 – 29 yrs</a:t>
                      </a:r>
                      <a:r>
                        <a:rPr lang="en-CA" sz="1400"/>
                        <a:t>. old</a:t>
                      </a:r>
                      <a:endParaRPr lang="en-CA" sz="1400" dirty="0"/>
                    </a:p>
                  </a:txBody>
                  <a:tcPr/>
                </a:tc>
                <a:extLst>
                  <a:ext uri="{0D108BD9-81ED-4DB2-BD59-A6C34878D82A}">
                    <a16:rowId xmlns:a16="http://schemas.microsoft.com/office/drawing/2014/main" val="1616300187"/>
                  </a:ext>
                </a:extLst>
              </a:tr>
              <a:tr h="303939">
                <a:tc>
                  <a:txBody>
                    <a:bodyPr/>
                    <a:lstStyle/>
                    <a:p>
                      <a:r>
                        <a:rPr lang="en-CA" sz="1400" dirty="0"/>
                        <a:t>30s</a:t>
                      </a:r>
                    </a:p>
                  </a:txBody>
                  <a:tcPr/>
                </a:tc>
                <a:tc>
                  <a:txBody>
                    <a:bodyPr/>
                    <a:lstStyle/>
                    <a:p>
                      <a:r>
                        <a:rPr lang="en-CA" sz="1400" dirty="0"/>
                        <a:t>30 – 39 yrs. old</a:t>
                      </a:r>
                    </a:p>
                  </a:txBody>
                  <a:tcPr/>
                </a:tc>
                <a:extLst>
                  <a:ext uri="{0D108BD9-81ED-4DB2-BD59-A6C34878D82A}">
                    <a16:rowId xmlns:a16="http://schemas.microsoft.com/office/drawing/2014/main" val="3446640036"/>
                  </a:ext>
                </a:extLst>
              </a:tr>
              <a:tr h="303939">
                <a:tc>
                  <a:txBody>
                    <a:bodyPr/>
                    <a:lstStyle/>
                    <a:p>
                      <a:r>
                        <a:rPr lang="en-CA" sz="1400" dirty="0"/>
                        <a:t>40s</a:t>
                      </a:r>
                    </a:p>
                  </a:txBody>
                  <a:tcPr/>
                </a:tc>
                <a:tc>
                  <a:txBody>
                    <a:bodyPr/>
                    <a:lstStyle/>
                    <a:p>
                      <a:r>
                        <a:rPr lang="en-CA" sz="1400" dirty="0"/>
                        <a:t>40 – 49 yrs</a:t>
                      </a:r>
                      <a:r>
                        <a:rPr lang="en-CA" sz="1400"/>
                        <a:t>. old</a:t>
                      </a:r>
                      <a:endParaRPr lang="en-CA" sz="1400" dirty="0"/>
                    </a:p>
                  </a:txBody>
                  <a:tcPr/>
                </a:tc>
                <a:extLst>
                  <a:ext uri="{0D108BD9-81ED-4DB2-BD59-A6C34878D82A}">
                    <a16:rowId xmlns:a16="http://schemas.microsoft.com/office/drawing/2014/main" val="2330481399"/>
                  </a:ext>
                </a:extLst>
              </a:tr>
              <a:tr h="303939">
                <a:tc>
                  <a:txBody>
                    <a:bodyPr/>
                    <a:lstStyle/>
                    <a:p>
                      <a:r>
                        <a:rPr lang="en-CA" sz="1400" dirty="0"/>
                        <a:t>50s</a:t>
                      </a:r>
                    </a:p>
                  </a:txBody>
                  <a:tcPr/>
                </a:tc>
                <a:tc>
                  <a:txBody>
                    <a:bodyPr/>
                    <a:lstStyle/>
                    <a:p>
                      <a:r>
                        <a:rPr lang="en-CA" sz="1400" dirty="0"/>
                        <a:t>50 – 59 yrs. old</a:t>
                      </a:r>
                    </a:p>
                  </a:txBody>
                  <a:tcPr/>
                </a:tc>
                <a:extLst>
                  <a:ext uri="{0D108BD9-81ED-4DB2-BD59-A6C34878D82A}">
                    <a16:rowId xmlns:a16="http://schemas.microsoft.com/office/drawing/2014/main" val="572793530"/>
                  </a:ext>
                </a:extLst>
              </a:tr>
              <a:tr h="303939">
                <a:tc>
                  <a:txBody>
                    <a:bodyPr/>
                    <a:lstStyle/>
                    <a:p>
                      <a:r>
                        <a:rPr lang="en-CA" sz="1400" dirty="0"/>
                        <a:t>60s</a:t>
                      </a:r>
                    </a:p>
                  </a:txBody>
                  <a:tcPr/>
                </a:tc>
                <a:tc>
                  <a:txBody>
                    <a:bodyPr/>
                    <a:lstStyle/>
                    <a:p>
                      <a:r>
                        <a:rPr lang="en-CA" sz="1400" dirty="0"/>
                        <a:t>60 – 69 yrs. old</a:t>
                      </a:r>
                    </a:p>
                  </a:txBody>
                  <a:tcPr/>
                </a:tc>
                <a:extLst>
                  <a:ext uri="{0D108BD9-81ED-4DB2-BD59-A6C34878D82A}">
                    <a16:rowId xmlns:a16="http://schemas.microsoft.com/office/drawing/2014/main" val="1390306653"/>
                  </a:ext>
                </a:extLst>
              </a:tr>
              <a:tr h="303939">
                <a:tc>
                  <a:txBody>
                    <a:bodyPr/>
                    <a:lstStyle/>
                    <a:p>
                      <a:r>
                        <a:rPr lang="en-CA" sz="1400" dirty="0"/>
                        <a:t>70s</a:t>
                      </a:r>
                    </a:p>
                  </a:txBody>
                  <a:tcPr/>
                </a:tc>
                <a:tc>
                  <a:txBody>
                    <a:bodyPr/>
                    <a:lstStyle/>
                    <a:p>
                      <a:r>
                        <a:rPr lang="en-CA" sz="1400" dirty="0"/>
                        <a:t>70 – 79 yrs</a:t>
                      </a:r>
                      <a:r>
                        <a:rPr lang="en-CA" sz="1400"/>
                        <a:t>. old</a:t>
                      </a:r>
                      <a:endParaRPr lang="en-CA" sz="1400" dirty="0"/>
                    </a:p>
                  </a:txBody>
                  <a:tcPr/>
                </a:tc>
                <a:extLst>
                  <a:ext uri="{0D108BD9-81ED-4DB2-BD59-A6C34878D82A}">
                    <a16:rowId xmlns:a16="http://schemas.microsoft.com/office/drawing/2014/main" val="392021244"/>
                  </a:ext>
                </a:extLst>
              </a:tr>
              <a:tr h="303939">
                <a:tc>
                  <a:txBody>
                    <a:bodyPr/>
                    <a:lstStyle/>
                    <a:p>
                      <a:r>
                        <a:rPr lang="en-CA" sz="1400" dirty="0"/>
                        <a:t>80s</a:t>
                      </a:r>
                    </a:p>
                  </a:txBody>
                  <a:tcPr/>
                </a:tc>
                <a:tc>
                  <a:txBody>
                    <a:bodyPr/>
                    <a:lstStyle/>
                    <a:p>
                      <a:r>
                        <a:rPr lang="en-CA" sz="1400" dirty="0"/>
                        <a:t>80 – 89 yrs. old</a:t>
                      </a:r>
                    </a:p>
                  </a:txBody>
                  <a:tcPr/>
                </a:tc>
                <a:extLst>
                  <a:ext uri="{0D108BD9-81ED-4DB2-BD59-A6C34878D82A}">
                    <a16:rowId xmlns:a16="http://schemas.microsoft.com/office/drawing/2014/main" val="887905457"/>
                  </a:ext>
                </a:extLst>
              </a:tr>
            </a:tbl>
          </a:graphicData>
        </a:graphic>
      </p:graphicFrame>
      <p:graphicFrame>
        <p:nvGraphicFramePr>
          <p:cNvPr id="6" name="Content Placeholder 5">
            <a:extLst>
              <a:ext uri="{FF2B5EF4-FFF2-40B4-BE49-F238E27FC236}">
                <a16:creationId xmlns:a16="http://schemas.microsoft.com/office/drawing/2014/main" id="{ACD849D0-08B7-F37F-5A0D-955E2FE2E785}"/>
              </a:ext>
            </a:extLst>
          </p:cNvPr>
          <p:cNvGraphicFramePr>
            <a:graphicFrameLocks noGrp="1"/>
          </p:cNvGraphicFramePr>
          <p:nvPr>
            <p:ph idx="1"/>
            <p:extLst>
              <p:ext uri="{D42A27DB-BD31-4B8C-83A1-F6EECF244321}">
                <p14:modId xmlns:p14="http://schemas.microsoft.com/office/powerpoint/2010/main" val="1092954312"/>
              </p:ext>
            </p:extLst>
          </p:nvPr>
        </p:nvGraphicFramePr>
        <p:xfrm>
          <a:off x="1865108" y="1337970"/>
          <a:ext cx="8430613" cy="1879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4A39F0DD-19F2-D012-583B-9ED4771B5176}"/>
              </a:ext>
            </a:extLst>
          </p:cNvPr>
          <p:cNvPicPr>
            <a:picLocks noChangeAspect="1"/>
          </p:cNvPicPr>
          <p:nvPr/>
        </p:nvPicPr>
        <p:blipFill>
          <a:blip r:embed="rId8"/>
          <a:stretch>
            <a:fillRect/>
          </a:stretch>
        </p:blipFill>
        <p:spPr>
          <a:xfrm>
            <a:off x="4255699" y="3115190"/>
            <a:ext cx="3502795" cy="3362194"/>
          </a:xfrm>
          <a:prstGeom prst="rect">
            <a:avLst/>
          </a:prstGeom>
        </p:spPr>
      </p:pic>
      <p:pic>
        <p:nvPicPr>
          <p:cNvPr id="13" name="Picture 12">
            <a:extLst>
              <a:ext uri="{FF2B5EF4-FFF2-40B4-BE49-F238E27FC236}">
                <a16:creationId xmlns:a16="http://schemas.microsoft.com/office/drawing/2014/main" id="{75D12965-791F-620B-15D8-3BF76EC3FE82}"/>
              </a:ext>
            </a:extLst>
          </p:cNvPr>
          <p:cNvPicPr>
            <a:picLocks noChangeAspect="1"/>
          </p:cNvPicPr>
          <p:nvPr/>
        </p:nvPicPr>
        <p:blipFill>
          <a:blip r:embed="rId9"/>
          <a:stretch>
            <a:fillRect/>
          </a:stretch>
        </p:blipFill>
        <p:spPr>
          <a:xfrm>
            <a:off x="7915443" y="3792189"/>
            <a:ext cx="3737475" cy="2008195"/>
          </a:xfrm>
          <a:prstGeom prst="rect">
            <a:avLst/>
          </a:prstGeom>
        </p:spPr>
      </p:pic>
    </p:spTree>
    <p:extLst>
      <p:ext uri="{BB962C8B-B14F-4D97-AF65-F5344CB8AC3E}">
        <p14:creationId xmlns:p14="http://schemas.microsoft.com/office/powerpoint/2010/main" val="1814217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6ACF7F-07E7-39FB-DF04-C1D4EE1A7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F018A-1E8B-3FD4-4086-83F50B2FFAAF}"/>
              </a:ext>
            </a:extLst>
          </p:cNvPr>
          <p:cNvSpPr>
            <a:spLocks noGrp="1"/>
          </p:cNvSpPr>
          <p:nvPr>
            <p:ph type="title"/>
          </p:nvPr>
        </p:nvSpPr>
        <p:spPr>
          <a:xfrm>
            <a:off x="1024128" y="585216"/>
            <a:ext cx="9720072" cy="1346326"/>
          </a:xfrm>
        </p:spPr>
        <p:txBody>
          <a:bodyPr>
            <a:noAutofit/>
          </a:bodyPr>
          <a:lstStyle/>
          <a:p>
            <a:r>
              <a:rPr lang="en-US" sz="3200" b="1" dirty="0"/>
              <a:t>Data Visualization</a:t>
            </a:r>
            <a:br>
              <a:rPr lang="en-US" sz="3200" b="1" dirty="0"/>
            </a:br>
            <a:r>
              <a:rPr lang="en-US" sz="3200" b="1" dirty="0"/>
              <a:t>Age Group and Health Issues vs Caffeine Intake (Mg)</a:t>
            </a:r>
          </a:p>
        </p:txBody>
      </p:sp>
      <p:pic>
        <p:nvPicPr>
          <p:cNvPr id="7" name="Content Placeholder 6">
            <a:extLst>
              <a:ext uri="{FF2B5EF4-FFF2-40B4-BE49-F238E27FC236}">
                <a16:creationId xmlns:a16="http://schemas.microsoft.com/office/drawing/2014/main" id="{986E5C0D-81FA-1584-A156-98672932048C}"/>
              </a:ext>
            </a:extLst>
          </p:cNvPr>
          <p:cNvPicPr>
            <a:picLocks noGrp="1" noChangeAspect="1"/>
          </p:cNvPicPr>
          <p:nvPr>
            <p:ph idx="1"/>
          </p:nvPr>
        </p:nvPicPr>
        <p:blipFill>
          <a:blip r:embed="rId3"/>
          <a:stretch>
            <a:fillRect/>
          </a:stretch>
        </p:blipFill>
        <p:spPr>
          <a:xfrm>
            <a:off x="948716" y="1931542"/>
            <a:ext cx="10294568" cy="4726287"/>
          </a:xfrm>
          <a:prstGeom prst="rect">
            <a:avLst/>
          </a:prstGeom>
        </p:spPr>
      </p:pic>
    </p:spTree>
    <p:extLst>
      <p:ext uri="{BB962C8B-B14F-4D97-AF65-F5344CB8AC3E}">
        <p14:creationId xmlns:p14="http://schemas.microsoft.com/office/powerpoint/2010/main" val="2204687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833741-9C46-9B9D-9D80-7DE3944AB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4C39B-C567-5952-2E7E-8B40267E6030}"/>
              </a:ext>
            </a:extLst>
          </p:cNvPr>
          <p:cNvSpPr>
            <a:spLocks noGrp="1"/>
          </p:cNvSpPr>
          <p:nvPr>
            <p:ph type="title"/>
          </p:nvPr>
        </p:nvSpPr>
        <p:spPr>
          <a:xfrm>
            <a:off x="1024128" y="585216"/>
            <a:ext cx="3133581" cy="1499616"/>
          </a:xfrm>
        </p:spPr>
        <p:txBody>
          <a:bodyPr>
            <a:normAutofit/>
          </a:bodyPr>
          <a:lstStyle/>
          <a:p>
            <a:r>
              <a:rPr lang="en-US" sz="2800" b="1" dirty="0"/>
              <a:t>Data Visualization</a:t>
            </a:r>
            <a:br>
              <a:rPr lang="en-US" sz="2800" b="1" dirty="0"/>
            </a:br>
            <a:r>
              <a:rPr lang="en-US" sz="2800" b="1" dirty="0"/>
              <a:t>Average Caffeine Intake (Mg) by Country</a:t>
            </a:r>
          </a:p>
        </p:txBody>
      </p:sp>
      <p:sp>
        <p:nvSpPr>
          <p:cNvPr id="8" name="Content Placeholder 7">
            <a:extLst>
              <a:ext uri="{FF2B5EF4-FFF2-40B4-BE49-F238E27FC236}">
                <a16:creationId xmlns:a16="http://schemas.microsoft.com/office/drawing/2014/main" id="{85D78505-F7B5-7D35-282E-AB066ADFD83E}"/>
              </a:ext>
            </a:extLst>
          </p:cNvPr>
          <p:cNvSpPr>
            <a:spLocks noGrp="1"/>
          </p:cNvSpPr>
          <p:nvPr>
            <p:ph idx="1"/>
          </p:nvPr>
        </p:nvSpPr>
        <p:spPr>
          <a:xfrm>
            <a:off x="1024128" y="2286000"/>
            <a:ext cx="3133580" cy="4227816"/>
          </a:xfrm>
        </p:spPr>
        <p:txBody>
          <a:bodyPr>
            <a:normAutofit lnSpcReduction="10000"/>
          </a:bodyPr>
          <a:lstStyle/>
          <a:p>
            <a:pPr>
              <a:buFont typeface="Wingdings" panose="05000000000000000000" pitchFamily="2" charset="2"/>
              <a:buChar char="Ø"/>
            </a:pPr>
            <a:r>
              <a:rPr lang="en-CA" sz="1600" dirty="0"/>
              <a:t>Get the average Caffeine Intake (mg) consumed by each Country and visualize using a world map</a:t>
            </a:r>
          </a:p>
          <a:p>
            <a:pPr>
              <a:buFont typeface="Wingdings" panose="05000000000000000000" pitchFamily="2" charset="2"/>
              <a:buChar char="Ø"/>
            </a:pPr>
            <a:r>
              <a:rPr lang="en-CA" sz="1600" dirty="0"/>
              <a:t>The world map will be shown using Geo JSON</a:t>
            </a:r>
          </a:p>
          <a:p>
            <a:pPr>
              <a:buFont typeface="Wingdings" panose="05000000000000000000" pitchFamily="2" charset="2"/>
              <a:buChar char="Ø"/>
            </a:pPr>
            <a:r>
              <a:rPr lang="en-CA" sz="1600" dirty="0"/>
              <a:t>We will get the world map Geo JSON file from the following source: </a:t>
            </a:r>
            <a:r>
              <a:rPr lang="en-CA" sz="1600" dirty="0">
                <a:hlinkClick r:id="rId3"/>
              </a:rPr>
              <a:t>https://geojson-maps.kyd.au/</a:t>
            </a:r>
            <a:endParaRPr lang="en-CA" sz="1600" dirty="0"/>
          </a:p>
          <a:p>
            <a:pPr>
              <a:buFont typeface="Wingdings" panose="05000000000000000000" pitchFamily="2" charset="2"/>
              <a:buChar char="Ø"/>
            </a:pPr>
            <a:r>
              <a:rPr lang="en-CA" sz="1600" dirty="0"/>
              <a:t>Shown on the right is how the world map will look like after importing the Geo JSON file and showing it to a Bokeh plot</a:t>
            </a:r>
          </a:p>
          <a:p>
            <a:pPr>
              <a:buFont typeface="Wingdings" panose="05000000000000000000" pitchFamily="2" charset="2"/>
              <a:buChar char="Ø"/>
            </a:pPr>
            <a:r>
              <a:rPr lang="en-CA" sz="1600" dirty="0"/>
              <a:t>Our goal is to change the color of the countries that has existing data and add a hover tool for more details</a:t>
            </a:r>
          </a:p>
        </p:txBody>
      </p:sp>
      <p:pic>
        <p:nvPicPr>
          <p:cNvPr id="5" name="Picture 4">
            <a:extLst>
              <a:ext uri="{FF2B5EF4-FFF2-40B4-BE49-F238E27FC236}">
                <a16:creationId xmlns:a16="http://schemas.microsoft.com/office/drawing/2014/main" id="{A8559E63-8BDC-3C44-6A2A-1DFAED87A15A}"/>
              </a:ext>
            </a:extLst>
          </p:cNvPr>
          <p:cNvPicPr>
            <a:picLocks noChangeAspect="1"/>
          </p:cNvPicPr>
          <p:nvPr/>
        </p:nvPicPr>
        <p:blipFill>
          <a:blip r:embed="rId4"/>
          <a:stretch>
            <a:fillRect/>
          </a:stretch>
        </p:blipFill>
        <p:spPr>
          <a:xfrm>
            <a:off x="4642342" y="1848435"/>
            <a:ext cx="6909577" cy="3161130"/>
          </a:xfrm>
          <a:prstGeom prst="rect">
            <a:avLst/>
          </a:prstGeom>
        </p:spPr>
      </p:pic>
    </p:spTree>
    <p:extLst>
      <p:ext uri="{BB962C8B-B14F-4D97-AF65-F5344CB8AC3E}">
        <p14:creationId xmlns:p14="http://schemas.microsoft.com/office/powerpoint/2010/main" val="3721457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BFD0DB-BBD2-D351-A09D-52691D521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4EBBD-BC77-BC21-04D9-77A51387B619}"/>
              </a:ext>
            </a:extLst>
          </p:cNvPr>
          <p:cNvSpPr>
            <a:spLocks noGrp="1"/>
          </p:cNvSpPr>
          <p:nvPr>
            <p:ph type="title"/>
          </p:nvPr>
        </p:nvSpPr>
        <p:spPr>
          <a:xfrm>
            <a:off x="1024128" y="585216"/>
            <a:ext cx="9720072" cy="1499616"/>
          </a:xfrm>
        </p:spPr>
        <p:txBody>
          <a:bodyPr>
            <a:normAutofit/>
          </a:bodyPr>
          <a:lstStyle/>
          <a:p>
            <a:r>
              <a:rPr lang="en-US" b="1" dirty="0"/>
              <a:t>Involved Countries</a:t>
            </a:r>
          </a:p>
        </p:txBody>
      </p:sp>
      <p:sp>
        <p:nvSpPr>
          <p:cNvPr id="4" name="Content Placeholder 3">
            <a:extLst>
              <a:ext uri="{FF2B5EF4-FFF2-40B4-BE49-F238E27FC236}">
                <a16:creationId xmlns:a16="http://schemas.microsoft.com/office/drawing/2014/main" id="{4FC1A78F-2FE1-B946-4241-6667DF4F910D}"/>
              </a:ext>
            </a:extLst>
          </p:cNvPr>
          <p:cNvSpPr>
            <a:spLocks noGrp="1"/>
          </p:cNvSpPr>
          <p:nvPr>
            <p:ph idx="1"/>
          </p:nvPr>
        </p:nvSpPr>
        <p:spPr>
          <a:xfrm>
            <a:off x="1024128" y="2286000"/>
            <a:ext cx="4754880" cy="4023360"/>
          </a:xfrm>
        </p:spPr>
        <p:txBody>
          <a:bodyPr>
            <a:normAutofit/>
          </a:bodyPr>
          <a:lstStyle/>
          <a:p>
            <a:pPr>
              <a:buFont typeface="Wingdings" panose="05000000000000000000" pitchFamily="2" charset="2"/>
              <a:buChar char="Ø"/>
            </a:pPr>
            <a:r>
              <a:rPr lang="en-CA" dirty="0"/>
              <a:t>When we group our data frame by Country, we will see how many countries we have data on</a:t>
            </a:r>
          </a:p>
          <a:p>
            <a:pPr>
              <a:buFont typeface="Wingdings" panose="05000000000000000000" pitchFamily="2" charset="2"/>
              <a:buChar char="Ø"/>
            </a:pPr>
            <a:r>
              <a:rPr lang="en-CA" dirty="0"/>
              <a:t>After calling SIZE on the group object, we will see that we have 20 countries</a:t>
            </a:r>
          </a:p>
          <a:p>
            <a:pPr>
              <a:buFont typeface="Wingdings" panose="05000000000000000000" pitchFamily="2" charset="2"/>
              <a:buChar char="Ø"/>
            </a:pPr>
            <a:r>
              <a:rPr lang="en-CA" dirty="0"/>
              <a:t>We should expect a lot of grey areas in our visualization since we are only highlighting 20 countries</a:t>
            </a:r>
          </a:p>
          <a:p>
            <a:pPr>
              <a:buFont typeface="Wingdings" panose="05000000000000000000" pitchFamily="2" charset="2"/>
              <a:buChar char="Ø"/>
            </a:pPr>
            <a:r>
              <a:rPr lang="en-CA" dirty="0"/>
              <a:t>Note that UK and USA spellings are abbreviated</a:t>
            </a:r>
          </a:p>
          <a:p>
            <a:pPr marL="0" indent="0">
              <a:buNone/>
            </a:pPr>
            <a:endParaRPr lang="en-CA" dirty="0"/>
          </a:p>
          <a:p>
            <a:pPr marL="0" indent="0">
              <a:buNone/>
            </a:pPr>
            <a:endParaRPr lang="en-CA" dirty="0"/>
          </a:p>
        </p:txBody>
      </p:sp>
      <p:pic>
        <p:nvPicPr>
          <p:cNvPr id="8" name="Picture 7">
            <a:extLst>
              <a:ext uri="{FF2B5EF4-FFF2-40B4-BE49-F238E27FC236}">
                <a16:creationId xmlns:a16="http://schemas.microsoft.com/office/drawing/2014/main" id="{3A79F585-BD33-9F4E-4F44-A1CB5FAC4360}"/>
              </a:ext>
            </a:extLst>
          </p:cNvPr>
          <p:cNvPicPr>
            <a:picLocks noChangeAspect="1"/>
          </p:cNvPicPr>
          <p:nvPr/>
        </p:nvPicPr>
        <p:blipFill>
          <a:blip r:embed="rId3"/>
          <a:stretch>
            <a:fillRect/>
          </a:stretch>
        </p:blipFill>
        <p:spPr>
          <a:xfrm>
            <a:off x="6096000" y="1774362"/>
            <a:ext cx="4791744" cy="4829849"/>
          </a:xfrm>
          <a:prstGeom prst="rect">
            <a:avLst/>
          </a:prstGeom>
        </p:spPr>
      </p:pic>
    </p:spTree>
    <p:extLst>
      <p:ext uri="{BB962C8B-B14F-4D97-AF65-F5344CB8AC3E}">
        <p14:creationId xmlns:p14="http://schemas.microsoft.com/office/powerpoint/2010/main" val="2709394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8FC291-C572-1663-8231-7F78EEF05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FC2D6-582E-2FC1-8CE1-D19EB8B65E50}"/>
              </a:ext>
            </a:extLst>
          </p:cNvPr>
          <p:cNvSpPr>
            <a:spLocks noGrp="1"/>
          </p:cNvSpPr>
          <p:nvPr>
            <p:ph type="title"/>
          </p:nvPr>
        </p:nvSpPr>
        <p:spPr>
          <a:xfrm>
            <a:off x="1024128" y="585216"/>
            <a:ext cx="9720072" cy="1499616"/>
          </a:xfrm>
        </p:spPr>
        <p:txBody>
          <a:bodyPr>
            <a:normAutofit/>
          </a:bodyPr>
          <a:lstStyle/>
          <a:p>
            <a:r>
              <a:rPr lang="en-US" b="1" dirty="0"/>
              <a:t>Exploring the World Map’s JSON File</a:t>
            </a:r>
          </a:p>
        </p:txBody>
      </p:sp>
      <p:sp>
        <p:nvSpPr>
          <p:cNvPr id="4" name="Content Placeholder 3">
            <a:extLst>
              <a:ext uri="{FF2B5EF4-FFF2-40B4-BE49-F238E27FC236}">
                <a16:creationId xmlns:a16="http://schemas.microsoft.com/office/drawing/2014/main" id="{4FE3D03A-4D78-1CD2-6FDF-F40C1C301AF3}"/>
              </a:ext>
            </a:extLst>
          </p:cNvPr>
          <p:cNvSpPr>
            <a:spLocks noGrp="1"/>
          </p:cNvSpPr>
          <p:nvPr>
            <p:ph idx="1"/>
          </p:nvPr>
        </p:nvSpPr>
        <p:spPr>
          <a:xfrm>
            <a:off x="730830" y="2084832"/>
            <a:ext cx="4754880" cy="4566134"/>
          </a:xfrm>
        </p:spPr>
        <p:txBody>
          <a:bodyPr>
            <a:normAutofit lnSpcReduction="10000"/>
          </a:bodyPr>
          <a:lstStyle/>
          <a:p>
            <a:pPr>
              <a:buFont typeface="Wingdings" panose="05000000000000000000" pitchFamily="2" charset="2"/>
              <a:buChar char="Ø"/>
            </a:pPr>
            <a:r>
              <a:rPr lang="en-CA" sz="1800" dirty="0"/>
              <a:t>The world map’s JSON file that we imported is a type of ‘Feature Collection’ and contains the following layers:</a:t>
            </a:r>
          </a:p>
          <a:p>
            <a:pPr lvl="1">
              <a:buFont typeface="Wingdings" panose="05000000000000000000" pitchFamily="2" charset="2"/>
              <a:buChar char="Ø"/>
            </a:pPr>
            <a:r>
              <a:rPr lang="en-CA" dirty="0"/>
              <a:t>[‘features’] will be a list of features, with a total of 175 items representing each country</a:t>
            </a:r>
          </a:p>
          <a:p>
            <a:pPr lvl="1">
              <a:buFont typeface="Wingdings" panose="05000000000000000000" pitchFamily="2" charset="2"/>
              <a:buChar char="Ø"/>
            </a:pPr>
            <a:r>
              <a:rPr lang="en-CA" dirty="0"/>
              <a:t>Each feature will contain ‘type’, ‘properties’ and ‘geometry’ objects</a:t>
            </a:r>
          </a:p>
          <a:p>
            <a:pPr lvl="2">
              <a:buFont typeface="Wingdings" panose="05000000000000000000" pitchFamily="2" charset="2"/>
              <a:buChar char="Ø"/>
            </a:pPr>
            <a:r>
              <a:rPr lang="en-CA" dirty="0"/>
              <a:t>[‘properties’] is a very long dictionary containing the properties of the feature. We will be needing the ‘name’ property to match our data. We will also modify the dictionary to add more properties such as Color, Rank and the Average Caffeine Intake</a:t>
            </a:r>
          </a:p>
          <a:p>
            <a:pPr lvl="2">
              <a:buFont typeface="Wingdings" panose="05000000000000000000" pitchFamily="2" charset="2"/>
              <a:buChar char="Ø"/>
            </a:pPr>
            <a:r>
              <a:rPr lang="en-CA" dirty="0"/>
              <a:t>[‘geometry’] is a Polygon type which Bokeh uses to draw our world map plot, we won’t be touching this</a:t>
            </a:r>
          </a:p>
          <a:p>
            <a:pPr>
              <a:buFont typeface="Wingdings" panose="05000000000000000000" pitchFamily="2" charset="2"/>
              <a:buChar char="Ø"/>
            </a:pPr>
            <a:r>
              <a:rPr lang="en-CA" sz="1800" dirty="0"/>
              <a:t>Since we know how the JSON file looks like, we will access the properties in Python like this:</a:t>
            </a:r>
          </a:p>
          <a:p>
            <a:pPr lvl="1">
              <a:buFont typeface="Wingdings" panose="05000000000000000000" pitchFamily="2" charset="2"/>
              <a:buChar char="Ø"/>
            </a:pPr>
            <a:r>
              <a:rPr lang="en-CA" sz="1600" dirty="0" err="1"/>
              <a:t>Geojson</a:t>
            </a:r>
            <a:r>
              <a:rPr lang="en-CA" sz="1600" dirty="0"/>
              <a:t>[‘features’][</a:t>
            </a:r>
            <a:r>
              <a:rPr lang="en-CA" sz="1600" dirty="0" err="1"/>
              <a:t>i</a:t>
            </a:r>
            <a:r>
              <a:rPr lang="en-CA" sz="1600" dirty="0"/>
              <a:t>][‘properties’]</a:t>
            </a:r>
          </a:p>
          <a:p>
            <a:pPr lvl="2">
              <a:buFont typeface="Wingdings" panose="05000000000000000000" pitchFamily="2" charset="2"/>
              <a:buChar char="Ø"/>
            </a:pPr>
            <a:r>
              <a:rPr lang="en-CA" sz="1200" dirty="0"/>
              <a:t>‘</a:t>
            </a:r>
            <a:r>
              <a:rPr lang="en-CA" sz="1200" dirty="0" err="1"/>
              <a:t>i</a:t>
            </a:r>
            <a:r>
              <a:rPr lang="en-CA" sz="1200" dirty="0"/>
              <a:t>’ will be the index in the ‘features’ list</a:t>
            </a:r>
          </a:p>
          <a:p>
            <a:pPr marL="0" indent="0">
              <a:buNone/>
            </a:pPr>
            <a:endParaRPr lang="en-CA" dirty="0"/>
          </a:p>
        </p:txBody>
      </p:sp>
      <p:pic>
        <p:nvPicPr>
          <p:cNvPr id="7" name="Picture 6">
            <a:extLst>
              <a:ext uri="{FF2B5EF4-FFF2-40B4-BE49-F238E27FC236}">
                <a16:creationId xmlns:a16="http://schemas.microsoft.com/office/drawing/2014/main" id="{38B03C24-4A84-368A-D65B-86D07EF216DE}"/>
              </a:ext>
            </a:extLst>
          </p:cNvPr>
          <p:cNvPicPr>
            <a:picLocks noChangeAspect="1"/>
          </p:cNvPicPr>
          <p:nvPr/>
        </p:nvPicPr>
        <p:blipFill>
          <a:blip r:embed="rId3"/>
          <a:srcRect t="12211"/>
          <a:stretch>
            <a:fillRect/>
          </a:stretch>
        </p:blipFill>
        <p:spPr>
          <a:xfrm>
            <a:off x="7485993" y="2525921"/>
            <a:ext cx="4706007" cy="4332079"/>
          </a:xfrm>
          <a:prstGeom prst="rect">
            <a:avLst/>
          </a:prstGeom>
        </p:spPr>
      </p:pic>
      <p:pic>
        <p:nvPicPr>
          <p:cNvPr id="5" name="Picture 4">
            <a:extLst>
              <a:ext uri="{FF2B5EF4-FFF2-40B4-BE49-F238E27FC236}">
                <a16:creationId xmlns:a16="http://schemas.microsoft.com/office/drawing/2014/main" id="{61910FB3-C3D1-41B8-5BB2-D34F94C6202C}"/>
              </a:ext>
            </a:extLst>
          </p:cNvPr>
          <p:cNvPicPr>
            <a:picLocks noChangeAspect="1"/>
          </p:cNvPicPr>
          <p:nvPr/>
        </p:nvPicPr>
        <p:blipFill>
          <a:blip r:embed="rId4"/>
          <a:stretch>
            <a:fillRect/>
          </a:stretch>
        </p:blipFill>
        <p:spPr>
          <a:xfrm>
            <a:off x="5779008" y="1929384"/>
            <a:ext cx="3663535" cy="1499616"/>
          </a:xfrm>
          <a:prstGeom prst="rect">
            <a:avLst/>
          </a:prstGeom>
        </p:spPr>
      </p:pic>
    </p:spTree>
    <p:extLst>
      <p:ext uri="{BB962C8B-B14F-4D97-AF65-F5344CB8AC3E}">
        <p14:creationId xmlns:p14="http://schemas.microsoft.com/office/powerpoint/2010/main" val="2642729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0922FE-F5D6-3FBE-AEDF-583DE0046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5C56F-E7F7-2D65-4C56-5693C9224E13}"/>
              </a:ext>
            </a:extLst>
          </p:cNvPr>
          <p:cNvSpPr>
            <a:spLocks noGrp="1"/>
          </p:cNvSpPr>
          <p:nvPr>
            <p:ph type="title"/>
          </p:nvPr>
        </p:nvSpPr>
        <p:spPr>
          <a:xfrm>
            <a:off x="1024128" y="585216"/>
            <a:ext cx="9720072" cy="1499616"/>
          </a:xfrm>
        </p:spPr>
        <p:txBody>
          <a:bodyPr>
            <a:normAutofit/>
          </a:bodyPr>
          <a:lstStyle/>
          <a:p>
            <a:r>
              <a:rPr lang="en-US" b="1" dirty="0"/>
              <a:t>Determine the color based on Ranking</a:t>
            </a:r>
          </a:p>
        </p:txBody>
      </p:sp>
      <p:sp>
        <p:nvSpPr>
          <p:cNvPr id="4" name="Content Placeholder 3">
            <a:extLst>
              <a:ext uri="{FF2B5EF4-FFF2-40B4-BE49-F238E27FC236}">
                <a16:creationId xmlns:a16="http://schemas.microsoft.com/office/drawing/2014/main" id="{60F4B2F6-F03F-A276-7822-48F75D9183DF}"/>
              </a:ext>
            </a:extLst>
          </p:cNvPr>
          <p:cNvSpPr>
            <a:spLocks noGrp="1"/>
          </p:cNvSpPr>
          <p:nvPr>
            <p:ph idx="1"/>
          </p:nvPr>
        </p:nvSpPr>
        <p:spPr>
          <a:xfrm>
            <a:off x="1024128" y="2084832"/>
            <a:ext cx="9720072" cy="1888454"/>
          </a:xfrm>
        </p:spPr>
        <p:txBody>
          <a:bodyPr>
            <a:normAutofit lnSpcReduction="10000"/>
          </a:bodyPr>
          <a:lstStyle/>
          <a:p>
            <a:pPr>
              <a:buFont typeface="Wingdings" panose="05000000000000000000" pitchFamily="2" charset="2"/>
              <a:buChar char="Ø"/>
            </a:pPr>
            <a:r>
              <a:rPr lang="en-CA" sz="2000" dirty="0"/>
              <a:t>To color our world map, we will be using Yellow as a theme</a:t>
            </a:r>
          </a:p>
          <a:p>
            <a:pPr>
              <a:buFont typeface="Wingdings" panose="05000000000000000000" pitchFamily="2" charset="2"/>
              <a:buChar char="Ø"/>
            </a:pPr>
            <a:r>
              <a:rPr lang="en-CA" sz="2000" dirty="0"/>
              <a:t>Our goal is to change the color’s darkness based on the Country’s average Caffeine intake</a:t>
            </a:r>
          </a:p>
          <a:p>
            <a:pPr>
              <a:buFont typeface="Wingdings" panose="05000000000000000000" pitchFamily="2" charset="2"/>
              <a:buChar char="Ø"/>
            </a:pPr>
            <a:r>
              <a:rPr lang="en-CA" sz="2000" dirty="0"/>
              <a:t>We will accomplish this by making a new function where it will take an amount parameter that will determine the color’s darkness</a:t>
            </a:r>
          </a:p>
          <a:p>
            <a:pPr>
              <a:buFont typeface="Wingdings" panose="05000000000000000000" pitchFamily="2" charset="2"/>
              <a:buChar char="Ø"/>
            </a:pPr>
            <a:r>
              <a:rPr lang="en-CA" sz="2000" dirty="0"/>
              <a:t>The Python library used is called ‘seaborn’ and the figure is called ‘</a:t>
            </a:r>
            <a:r>
              <a:rPr lang="en-CA" sz="2000" dirty="0" err="1"/>
              <a:t>palplot</a:t>
            </a:r>
            <a:r>
              <a:rPr lang="en-CA" sz="2000" dirty="0"/>
              <a:t>’</a:t>
            </a:r>
          </a:p>
          <a:p>
            <a:pPr marL="0" indent="0">
              <a:buNone/>
            </a:pPr>
            <a:endParaRPr lang="en-CA" sz="2000" dirty="0"/>
          </a:p>
          <a:p>
            <a:pPr marL="0" indent="0">
              <a:buNone/>
            </a:pPr>
            <a:endParaRPr lang="en-CA" sz="2000" dirty="0"/>
          </a:p>
        </p:txBody>
      </p:sp>
      <p:pic>
        <p:nvPicPr>
          <p:cNvPr id="5" name="Picture 4">
            <a:extLst>
              <a:ext uri="{FF2B5EF4-FFF2-40B4-BE49-F238E27FC236}">
                <a16:creationId xmlns:a16="http://schemas.microsoft.com/office/drawing/2014/main" id="{F1E98233-BC3C-8C34-04B5-EEC559F40BAD}"/>
              </a:ext>
            </a:extLst>
          </p:cNvPr>
          <p:cNvPicPr>
            <a:picLocks noChangeAspect="1"/>
          </p:cNvPicPr>
          <p:nvPr/>
        </p:nvPicPr>
        <p:blipFill>
          <a:blip r:embed="rId3"/>
          <a:stretch>
            <a:fillRect/>
          </a:stretch>
        </p:blipFill>
        <p:spPr>
          <a:xfrm>
            <a:off x="0" y="4070288"/>
            <a:ext cx="12192000" cy="764099"/>
          </a:xfrm>
          <a:prstGeom prst="rect">
            <a:avLst/>
          </a:prstGeom>
        </p:spPr>
      </p:pic>
    </p:spTree>
    <p:extLst>
      <p:ext uri="{BB962C8B-B14F-4D97-AF65-F5344CB8AC3E}">
        <p14:creationId xmlns:p14="http://schemas.microsoft.com/office/powerpoint/2010/main" val="1609259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59B13C-77C0-7DD8-11B2-BD1D0232B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0268A-93FB-1CC3-333B-9D74EEA988DC}"/>
              </a:ext>
            </a:extLst>
          </p:cNvPr>
          <p:cNvSpPr>
            <a:spLocks noGrp="1"/>
          </p:cNvSpPr>
          <p:nvPr>
            <p:ph type="title"/>
          </p:nvPr>
        </p:nvSpPr>
        <p:spPr>
          <a:xfrm>
            <a:off x="1024128" y="585216"/>
            <a:ext cx="9720072" cy="1499616"/>
          </a:xfrm>
        </p:spPr>
        <p:txBody>
          <a:bodyPr>
            <a:normAutofit/>
          </a:bodyPr>
          <a:lstStyle/>
          <a:p>
            <a:r>
              <a:rPr lang="en-US" sz="4300" b="1"/>
              <a:t>Average Caffeine Intake (Mg) by Country</a:t>
            </a:r>
            <a:br>
              <a:rPr lang="en-US" sz="4300" b="1"/>
            </a:br>
            <a:r>
              <a:rPr lang="en-US" sz="4300" b="1"/>
              <a:t>Code Process</a:t>
            </a:r>
          </a:p>
        </p:txBody>
      </p:sp>
      <p:graphicFrame>
        <p:nvGraphicFramePr>
          <p:cNvPr id="9" name="Content Placeholder 8">
            <a:extLst>
              <a:ext uri="{FF2B5EF4-FFF2-40B4-BE49-F238E27FC236}">
                <a16:creationId xmlns:a16="http://schemas.microsoft.com/office/drawing/2014/main" id="{C93BF034-E5A8-0010-6FB3-895784423C33}"/>
              </a:ext>
            </a:extLst>
          </p:cNvPr>
          <p:cNvGraphicFramePr>
            <a:graphicFrameLocks noGrp="1"/>
          </p:cNvGraphicFramePr>
          <p:nvPr>
            <p:ph idx="1"/>
            <p:extLst>
              <p:ext uri="{D42A27DB-BD31-4B8C-83A1-F6EECF244321}">
                <p14:modId xmlns:p14="http://schemas.microsoft.com/office/powerpoint/2010/main" val="3765003586"/>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8176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E477CD-E872-F786-A322-387E053E5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02E3C-3D22-2E87-B0C3-8AF947EC952D}"/>
              </a:ext>
            </a:extLst>
          </p:cNvPr>
          <p:cNvSpPr>
            <a:spLocks noGrp="1"/>
          </p:cNvSpPr>
          <p:nvPr>
            <p:ph type="title"/>
          </p:nvPr>
        </p:nvSpPr>
        <p:spPr>
          <a:xfrm>
            <a:off x="1075499" y="403546"/>
            <a:ext cx="9720072" cy="1194295"/>
          </a:xfrm>
        </p:spPr>
        <p:txBody>
          <a:bodyPr>
            <a:noAutofit/>
          </a:bodyPr>
          <a:lstStyle/>
          <a:p>
            <a:r>
              <a:rPr lang="en-US" sz="3200" b="1" dirty="0"/>
              <a:t>Data Visualization</a:t>
            </a:r>
            <a:br>
              <a:rPr lang="en-US" sz="3200" b="1" dirty="0"/>
            </a:br>
            <a:r>
              <a:rPr lang="en-US" sz="3200" b="1" dirty="0"/>
              <a:t>Average Caffeine Intake (Mg) by Country</a:t>
            </a:r>
          </a:p>
        </p:txBody>
      </p:sp>
      <p:pic>
        <p:nvPicPr>
          <p:cNvPr id="6" name="Picture 5">
            <a:extLst>
              <a:ext uri="{FF2B5EF4-FFF2-40B4-BE49-F238E27FC236}">
                <a16:creationId xmlns:a16="http://schemas.microsoft.com/office/drawing/2014/main" id="{965006ED-0BCE-2F40-747E-B1124F7D4A0B}"/>
              </a:ext>
            </a:extLst>
          </p:cNvPr>
          <p:cNvPicPr>
            <a:picLocks noChangeAspect="1"/>
          </p:cNvPicPr>
          <p:nvPr/>
        </p:nvPicPr>
        <p:blipFill>
          <a:blip r:embed="rId3"/>
          <a:stretch>
            <a:fillRect/>
          </a:stretch>
        </p:blipFill>
        <p:spPr>
          <a:xfrm>
            <a:off x="512064" y="1597841"/>
            <a:ext cx="11167872" cy="5126519"/>
          </a:xfrm>
          <a:prstGeom prst="rect">
            <a:avLst/>
          </a:prstGeom>
        </p:spPr>
      </p:pic>
    </p:spTree>
    <p:extLst>
      <p:ext uri="{BB962C8B-B14F-4D97-AF65-F5344CB8AC3E}">
        <p14:creationId xmlns:p14="http://schemas.microsoft.com/office/powerpoint/2010/main" val="1566325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2DE976-3D87-5239-CEF6-F9BB800D9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74A9F-E141-A677-3450-3083453273A2}"/>
              </a:ext>
            </a:extLst>
          </p:cNvPr>
          <p:cNvSpPr>
            <a:spLocks noGrp="1"/>
          </p:cNvSpPr>
          <p:nvPr>
            <p:ph type="title"/>
          </p:nvPr>
        </p:nvSpPr>
        <p:spPr>
          <a:xfrm>
            <a:off x="1024128" y="585216"/>
            <a:ext cx="6066818" cy="1499616"/>
          </a:xfrm>
        </p:spPr>
        <p:txBody>
          <a:bodyPr>
            <a:normAutofit/>
          </a:bodyPr>
          <a:lstStyle/>
          <a:p>
            <a:r>
              <a:rPr lang="en-US" b="1" dirty="0"/>
              <a:t>Prepare to Publish</a:t>
            </a:r>
          </a:p>
        </p:txBody>
      </p:sp>
      <p:sp>
        <p:nvSpPr>
          <p:cNvPr id="4" name="Content Placeholder 3">
            <a:extLst>
              <a:ext uri="{FF2B5EF4-FFF2-40B4-BE49-F238E27FC236}">
                <a16:creationId xmlns:a16="http://schemas.microsoft.com/office/drawing/2014/main" id="{1222B67F-4862-DDD0-5494-1D09F93C3016}"/>
              </a:ext>
            </a:extLst>
          </p:cNvPr>
          <p:cNvSpPr>
            <a:spLocks noGrp="1"/>
          </p:cNvSpPr>
          <p:nvPr>
            <p:ph idx="1"/>
          </p:nvPr>
        </p:nvSpPr>
        <p:spPr>
          <a:xfrm>
            <a:off x="1024128" y="2286000"/>
            <a:ext cx="6066818" cy="4023360"/>
          </a:xfrm>
        </p:spPr>
        <p:txBody>
          <a:bodyPr>
            <a:normAutofit/>
          </a:bodyPr>
          <a:lstStyle/>
          <a:p>
            <a:pPr>
              <a:buFont typeface="Wingdings" panose="05000000000000000000" pitchFamily="2" charset="2"/>
              <a:buChar char="Ø"/>
            </a:pPr>
            <a:r>
              <a:rPr lang="en-CA" dirty="0"/>
              <a:t>In total we have shown 5 Bokeh figures</a:t>
            </a:r>
          </a:p>
          <a:p>
            <a:pPr>
              <a:buFont typeface="Wingdings" panose="05000000000000000000" pitchFamily="2" charset="2"/>
              <a:buChar char="Ø"/>
            </a:pPr>
            <a:r>
              <a:rPr lang="en-CA" dirty="0"/>
              <a:t>To show all these figures into one, we will use Bokeh’s layout functionalities: </a:t>
            </a:r>
            <a:r>
              <a:rPr lang="en-CA" dirty="0">
                <a:hlinkClick r:id="rId3"/>
              </a:rPr>
              <a:t>https://docs.bokeh.org/en/latest/docs/user_guide/basic/layouts.html#general-grid-layout</a:t>
            </a:r>
            <a:endParaRPr lang="en-CA" dirty="0"/>
          </a:p>
          <a:p>
            <a:pPr>
              <a:buFont typeface="Wingdings" panose="05000000000000000000" pitchFamily="2" charset="2"/>
              <a:buChar char="Ø"/>
            </a:pPr>
            <a:r>
              <a:rPr lang="en-CA" dirty="0"/>
              <a:t>Then we will use Bokeh’s output file to export the figures in an HTML file</a:t>
            </a:r>
          </a:p>
          <a:p>
            <a:pPr>
              <a:buFont typeface="Wingdings" panose="05000000000000000000" pitchFamily="2" charset="2"/>
              <a:buChar char="Ø"/>
            </a:pPr>
            <a:r>
              <a:rPr lang="en-CA" dirty="0"/>
              <a:t>The platform that we will be using to publish our web page is Netlify:</a:t>
            </a:r>
          </a:p>
          <a:p>
            <a:pPr lvl="1">
              <a:buFont typeface="Wingdings" panose="05000000000000000000" pitchFamily="2" charset="2"/>
              <a:buChar char="Ø"/>
            </a:pPr>
            <a:r>
              <a:rPr lang="en-CA" dirty="0">
                <a:hlinkClick r:id="rId4"/>
              </a:rPr>
              <a:t>https://aramirez-capstone1-0978da.netlify.app/</a:t>
            </a:r>
            <a:endParaRPr lang="en-CA" dirty="0"/>
          </a:p>
          <a:p>
            <a:pPr marL="128016" lvl="1" indent="0">
              <a:buNone/>
            </a:pPr>
            <a:endParaRPr lang="en-CA" dirty="0"/>
          </a:p>
        </p:txBody>
      </p:sp>
      <p:pic>
        <p:nvPicPr>
          <p:cNvPr id="5" name="Picture 4">
            <a:extLst>
              <a:ext uri="{FF2B5EF4-FFF2-40B4-BE49-F238E27FC236}">
                <a16:creationId xmlns:a16="http://schemas.microsoft.com/office/drawing/2014/main" id="{5E9EF806-D268-6C51-4254-406F8122F6EE}"/>
              </a:ext>
            </a:extLst>
          </p:cNvPr>
          <p:cNvPicPr>
            <a:picLocks noChangeAspect="1"/>
          </p:cNvPicPr>
          <p:nvPr/>
        </p:nvPicPr>
        <p:blipFill>
          <a:blip r:embed="rId5"/>
          <a:stretch>
            <a:fillRect/>
          </a:stretch>
        </p:blipFill>
        <p:spPr>
          <a:xfrm>
            <a:off x="7264173" y="2804853"/>
            <a:ext cx="3667637" cy="2438740"/>
          </a:xfrm>
          <a:prstGeom prst="rect">
            <a:avLst/>
          </a:prstGeom>
        </p:spPr>
      </p:pic>
    </p:spTree>
    <p:extLst>
      <p:ext uri="{BB962C8B-B14F-4D97-AF65-F5344CB8AC3E}">
        <p14:creationId xmlns:p14="http://schemas.microsoft.com/office/powerpoint/2010/main" val="3198590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15843F-7E93-CC45-2A6D-8B5A779F1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D058B-A36F-4F72-04D2-09157C808394}"/>
              </a:ext>
            </a:extLst>
          </p:cNvPr>
          <p:cNvSpPr>
            <a:spLocks noGrp="1"/>
          </p:cNvSpPr>
          <p:nvPr>
            <p:ph type="title"/>
          </p:nvPr>
        </p:nvSpPr>
        <p:spPr>
          <a:xfrm>
            <a:off x="1052703" y="270891"/>
            <a:ext cx="7891272" cy="957834"/>
          </a:xfrm>
        </p:spPr>
        <p:txBody>
          <a:bodyPr>
            <a:normAutofit/>
          </a:bodyPr>
          <a:lstStyle/>
          <a:p>
            <a:r>
              <a:rPr lang="en-US" b="1" dirty="0"/>
              <a:t>Analysis</a:t>
            </a:r>
          </a:p>
        </p:txBody>
      </p:sp>
      <p:sp>
        <p:nvSpPr>
          <p:cNvPr id="4" name="Content Placeholder 3">
            <a:extLst>
              <a:ext uri="{FF2B5EF4-FFF2-40B4-BE49-F238E27FC236}">
                <a16:creationId xmlns:a16="http://schemas.microsoft.com/office/drawing/2014/main" id="{124DB99C-14A3-9602-5A90-B5B2C373BB60}"/>
              </a:ext>
            </a:extLst>
          </p:cNvPr>
          <p:cNvSpPr>
            <a:spLocks noGrp="1"/>
          </p:cNvSpPr>
          <p:nvPr>
            <p:ph idx="1"/>
          </p:nvPr>
        </p:nvSpPr>
        <p:spPr>
          <a:xfrm>
            <a:off x="1131189" y="1228725"/>
            <a:ext cx="9929622" cy="5514975"/>
          </a:xfrm>
        </p:spPr>
        <p:txBody>
          <a:bodyPr>
            <a:normAutofit/>
          </a:bodyPr>
          <a:lstStyle/>
          <a:p>
            <a:pPr lvl="1">
              <a:buFont typeface="Wingdings" panose="05000000000000000000" pitchFamily="2" charset="2"/>
              <a:buChar char="Ø"/>
            </a:pPr>
            <a:r>
              <a:rPr lang="en-CA" sz="2800" dirty="0"/>
              <a:t>Age Group and Health Issue Category vs Caffeine Intake (mg) Comparison</a:t>
            </a:r>
          </a:p>
          <a:p>
            <a:pPr lvl="2">
              <a:buFont typeface="Arial" panose="020B0604020202020204" pitchFamily="34" charset="0"/>
              <a:buChar char="•"/>
            </a:pPr>
            <a:r>
              <a:rPr lang="en-CA" sz="2000" dirty="0"/>
              <a:t>The ‘Severe’ Health Issue Category does not have enough sample size, 11 in the 50s age group and 6 in the 60s age group</a:t>
            </a:r>
          </a:p>
          <a:p>
            <a:pPr lvl="2">
              <a:buFont typeface="Arial" panose="020B0604020202020204" pitchFamily="34" charset="0"/>
              <a:buChar char="•"/>
            </a:pPr>
            <a:r>
              <a:rPr lang="en-CA" sz="2000" dirty="0"/>
              <a:t>From Age Groups 20s to 40s, those who consume more than 250 mg have Mild to Moderate Health Issues</a:t>
            </a:r>
          </a:p>
          <a:p>
            <a:pPr lvl="2">
              <a:buFont typeface="Arial" panose="020B0604020202020204" pitchFamily="34" charset="0"/>
              <a:buChar char="•"/>
            </a:pPr>
            <a:r>
              <a:rPr lang="en-CA" sz="2000" dirty="0"/>
              <a:t>Those who does not have Health Issues consumes around 200 mg to 250 mg</a:t>
            </a:r>
          </a:p>
          <a:p>
            <a:pPr lvl="2">
              <a:buFont typeface="Arial" panose="020B0604020202020204" pitchFamily="34" charset="0"/>
              <a:buChar char="•"/>
            </a:pPr>
            <a:r>
              <a:rPr lang="en-CA" sz="2000" dirty="0"/>
              <a:t>The difference in consumption of those with no health issues to those that have is only around 50 mg, which suggests that Coffee consumption might have less impact on one’s health, however, consuming less than 250 mg would be a safe measure</a:t>
            </a:r>
          </a:p>
          <a:p>
            <a:pPr lvl="1">
              <a:buFont typeface="Wingdings" panose="05000000000000000000" pitchFamily="2" charset="2"/>
              <a:buChar char="Ø"/>
            </a:pPr>
            <a:r>
              <a:rPr lang="en-CA" sz="2800" dirty="0"/>
              <a:t>Average Coffee Consumption by Country</a:t>
            </a:r>
          </a:p>
          <a:p>
            <a:pPr lvl="2">
              <a:buFont typeface="Arial" panose="020B0604020202020204" pitchFamily="34" charset="0"/>
              <a:buChar char="•"/>
            </a:pPr>
            <a:r>
              <a:rPr lang="en-CA" sz="2000" dirty="0"/>
              <a:t>Spain ranks number 1 with an average of 247 mg per day</a:t>
            </a:r>
          </a:p>
          <a:p>
            <a:pPr lvl="2">
              <a:buFont typeface="Arial" panose="020B0604020202020204" pitchFamily="34" charset="0"/>
              <a:buChar char="•"/>
            </a:pPr>
            <a:r>
              <a:rPr lang="en-CA" sz="2000" dirty="0"/>
              <a:t>Belgium ranks last at number 20 with an average of 230 mg per day</a:t>
            </a:r>
          </a:p>
        </p:txBody>
      </p:sp>
    </p:spTree>
    <p:extLst>
      <p:ext uri="{BB962C8B-B14F-4D97-AF65-F5344CB8AC3E}">
        <p14:creationId xmlns:p14="http://schemas.microsoft.com/office/powerpoint/2010/main" val="1605274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C8C8A3-616B-FBF3-FD03-A6015F28B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8E00A-F0E1-E34A-6BF9-B47227441A9E}"/>
              </a:ext>
            </a:extLst>
          </p:cNvPr>
          <p:cNvSpPr>
            <a:spLocks noGrp="1"/>
          </p:cNvSpPr>
          <p:nvPr>
            <p:ph type="title"/>
          </p:nvPr>
        </p:nvSpPr>
        <p:spPr>
          <a:xfrm>
            <a:off x="1023938" y="585788"/>
            <a:ext cx="9720262" cy="842962"/>
          </a:xfrm>
        </p:spPr>
        <p:txBody>
          <a:bodyPr>
            <a:normAutofit/>
          </a:bodyPr>
          <a:lstStyle/>
          <a:p>
            <a:r>
              <a:rPr lang="en-US" b="1" dirty="0"/>
              <a:t>Sources</a:t>
            </a:r>
          </a:p>
        </p:txBody>
      </p:sp>
      <p:pic>
        <p:nvPicPr>
          <p:cNvPr id="3" name="Picture 2" descr="Close-up of a coffee cup on a table">
            <a:extLst>
              <a:ext uri="{FF2B5EF4-FFF2-40B4-BE49-F238E27FC236}">
                <a16:creationId xmlns:a16="http://schemas.microsoft.com/office/drawing/2014/main" id="{BFE9CC2A-66ED-BDCF-E069-F50E1B2A92C6}"/>
              </a:ext>
            </a:extLst>
          </p:cNvPr>
          <p:cNvPicPr>
            <a:picLocks noChangeAspect="1"/>
          </p:cNvPicPr>
          <p:nvPr/>
        </p:nvPicPr>
        <p:blipFill>
          <a:blip r:embed="rId3"/>
          <a:srcRect l="47649" t="-1" r="19068" b="-1"/>
          <a:stretch>
            <a:fillRect/>
          </a:stretch>
        </p:blipFill>
        <p:spPr>
          <a:xfrm>
            <a:off x="8772525" y="0"/>
            <a:ext cx="3419475" cy="6857990"/>
          </a:xfrm>
          <a:prstGeom prst="rect">
            <a:avLst/>
          </a:prstGeom>
        </p:spPr>
      </p:pic>
      <p:sp>
        <p:nvSpPr>
          <p:cNvPr id="8" name="Content Placeholder 2">
            <a:extLst>
              <a:ext uri="{FF2B5EF4-FFF2-40B4-BE49-F238E27FC236}">
                <a16:creationId xmlns:a16="http://schemas.microsoft.com/office/drawing/2014/main" id="{9BBDDBE1-00CD-4A90-9BA9-5E79F6C6FDE0}"/>
              </a:ext>
            </a:extLst>
          </p:cNvPr>
          <p:cNvSpPr>
            <a:spLocks noGrp="1"/>
          </p:cNvSpPr>
          <p:nvPr>
            <p:ph idx="1"/>
          </p:nvPr>
        </p:nvSpPr>
        <p:spPr>
          <a:xfrm>
            <a:off x="1023937" y="1428750"/>
            <a:ext cx="7748587" cy="4581525"/>
          </a:xfrm>
        </p:spPr>
        <p:txBody>
          <a:bodyPr>
            <a:noAutofit/>
          </a:bodyPr>
          <a:lstStyle/>
          <a:p>
            <a:pPr marL="0" indent="0">
              <a:lnSpc>
                <a:spcPct val="100000"/>
              </a:lnSpc>
              <a:spcBef>
                <a:spcPts val="0"/>
              </a:spcBef>
              <a:spcAft>
                <a:spcPts val="0"/>
              </a:spcAft>
              <a:buNone/>
            </a:pPr>
            <a:r>
              <a:rPr lang="en-US" sz="1800" b="1" dirty="0"/>
              <a:t>Dataset</a:t>
            </a:r>
          </a:p>
          <a:p>
            <a:pPr marL="0" indent="0">
              <a:lnSpc>
                <a:spcPct val="100000"/>
              </a:lnSpc>
              <a:spcBef>
                <a:spcPts val="0"/>
              </a:spcBef>
              <a:spcAft>
                <a:spcPts val="0"/>
              </a:spcAft>
              <a:buNone/>
            </a:pPr>
            <a:r>
              <a:rPr lang="en-US" sz="1800" dirty="0">
                <a:hlinkClick r:id="rId4"/>
              </a:rPr>
              <a:t>https://www.kaggle.com/datasets/uom190346a/global-coffee-health-dataset</a:t>
            </a:r>
            <a:r>
              <a:rPr lang="en-US" sz="1800" dirty="0"/>
              <a:t> </a:t>
            </a:r>
          </a:p>
          <a:p>
            <a:pPr marL="0" indent="0">
              <a:lnSpc>
                <a:spcPct val="100000"/>
              </a:lnSpc>
              <a:spcBef>
                <a:spcPts val="0"/>
              </a:spcBef>
              <a:spcAft>
                <a:spcPts val="0"/>
              </a:spcAft>
              <a:buNone/>
            </a:pPr>
            <a:r>
              <a:rPr lang="en-US" sz="1800" b="1" dirty="0"/>
              <a:t>Geo JSON of World Map</a:t>
            </a:r>
          </a:p>
          <a:p>
            <a:pPr marL="0" indent="0">
              <a:lnSpc>
                <a:spcPct val="100000"/>
              </a:lnSpc>
              <a:spcBef>
                <a:spcPts val="0"/>
              </a:spcBef>
              <a:spcAft>
                <a:spcPts val="0"/>
              </a:spcAft>
              <a:buNone/>
            </a:pPr>
            <a:r>
              <a:rPr lang="en-US" sz="1800" dirty="0">
                <a:hlinkClick r:id="rId5"/>
              </a:rPr>
              <a:t>https://geojson-maps.kyd.au/</a:t>
            </a:r>
            <a:r>
              <a:rPr lang="en-US" sz="1800" dirty="0"/>
              <a:t> </a:t>
            </a:r>
          </a:p>
          <a:p>
            <a:pPr marL="0" indent="0">
              <a:lnSpc>
                <a:spcPct val="100000"/>
              </a:lnSpc>
              <a:spcBef>
                <a:spcPts val="0"/>
              </a:spcBef>
              <a:spcAft>
                <a:spcPts val="0"/>
              </a:spcAft>
              <a:buNone/>
            </a:pPr>
            <a:r>
              <a:rPr lang="en-US" sz="1800" b="1" dirty="0"/>
              <a:t>Coding Help</a:t>
            </a:r>
          </a:p>
          <a:p>
            <a:pPr marL="0" indent="0">
              <a:lnSpc>
                <a:spcPct val="100000"/>
              </a:lnSpc>
              <a:spcBef>
                <a:spcPts val="0"/>
              </a:spcBef>
              <a:spcAft>
                <a:spcPts val="0"/>
              </a:spcAft>
              <a:buNone/>
            </a:pPr>
            <a:r>
              <a:rPr lang="en-US" sz="1800" dirty="0"/>
              <a:t>Lighten Color - </a:t>
            </a:r>
            <a:r>
              <a:rPr lang="en-US" sz="1800" dirty="0">
                <a:hlinkClick r:id="rId6"/>
              </a:rPr>
              <a:t>https://stackoverflow.com/questions/37765197/darken-or-lighten-a-color-in-matplotlib</a:t>
            </a:r>
            <a:endParaRPr lang="en-US" sz="1800" dirty="0"/>
          </a:p>
          <a:p>
            <a:pPr marL="0" indent="0">
              <a:lnSpc>
                <a:spcPct val="100000"/>
              </a:lnSpc>
              <a:spcBef>
                <a:spcPts val="0"/>
              </a:spcBef>
              <a:spcAft>
                <a:spcPts val="0"/>
              </a:spcAft>
              <a:buNone/>
            </a:pPr>
            <a:r>
              <a:rPr lang="en-US" sz="1800" dirty="0"/>
              <a:t>Bokeh Grid Layout - </a:t>
            </a:r>
            <a:r>
              <a:rPr lang="en-US" sz="1800" dirty="0">
                <a:hlinkClick r:id="rId7"/>
              </a:rPr>
              <a:t>https://docs.bokeh.org/en/latest/docs/user_guide/basic/layouts.html#general-grid-layout</a:t>
            </a:r>
            <a:br>
              <a:rPr lang="en-US" sz="1800" dirty="0"/>
            </a:br>
            <a:endParaRPr lang="en-US" sz="1800" dirty="0"/>
          </a:p>
        </p:txBody>
      </p:sp>
    </p:spTree>
    <p:extLst>
      <p:ext uri="{BB962C8B-B14F-4D97-AF65-F5344CB8AC3E}">
        <p14:creationId xmlns:p14="http://schemas.microsoft.com/office/powerpoint/2010/main" val="4057640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9A8C5E-2BB2-3F2E-33DE-631F1549D80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4"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cxnSp>
        <p:nvCxnSpPr>
          <p:cNvPr id="16" name="Straight Connector 15">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up of coffee with a spoon on a table">
            <a:extLst>
              <a:ext uri="{FF2B5EF4-FFF2-40B4-BE49-F238E27FC236}">
                <a16:creationId xmlns:a16="http://schemas.microsoft.com/office/drawing/2014/main" id="{A8B170F0-AF2D-5A5D-E289-439586FDBC0C}"/>
              </a:ext>
            </a:extLst>
          </p:cNvPr>
          <p:cNvPicPr>
            <a:picLocks noChangeAspect="1"/>
          </p:cNvPicPr>
          <p:nvPr/>
        </p:nvPicPr>
        <p:blipFill>
          <a:blip r:embed="rId3">
            <a:alphaModFix amt="45000"/>
          </a:blip>
          <a:srcRect t="9600" r="-1" b="14366"/>
          <a:stretch>
            <a:fillRect/>
          </a:stretch>
        </p:blipFill>
        <p:spPr>
          <a:xfrm>
            <a:off x="20" y="-1"/>
            <a:ext cx="12188932" cy="6858000"/>
          </a:xfrm>
          <a:prstGeom prst="rect">
            <a:avLst/>
          </a:prstGeom>
        </p:spPr>
      </p:pic>
      <p:sp>
        <p:nvSpPr>
          <p:cNvPr id="2" name="Title 1">
            <a:extLst>
              <a:ext uri="{FF2B5EF4-FFF2-40B4-BE49-F238E27FC236}">
                <a16:creationId xmlns:a16="http://schemas.microsoft.com/office/drawing/2014/main" id="{FA715A9C-77DE-0649-10F8-D339C1701EC7}"/>
              </a:ext>
            </a:extLst>
          </p:cNvPr>
          <p:cNvSpPr>
            <a:spLocks noGrp="1"/>
          </p:cNvSpPr>
          <p:nvPr>
            <p:ph type="title"/>
          </p:nvPr>
        </p:nvSpPr>
        <p:spPr>
          <a:xfrm>
            <a:off x="643467" y="643467"/>
            <a:ext cx="7164674" cy="5571066"/>
          </a:xfrm>
        </p:spPr>
        <p:txBody>
          <a:bodyPr vert="horz" lIns="91440" tIns="45720" rIns="91440" bIns="45720" rtlCol="0" anchor="ctr">
            <a:normAutofit/>
          </a:bodyPr>
          <a:lstStyle/>
          <a:p>
            <a:pPr algn="r"/>
            <a:r>
              <a:rPr lang="en-US" sz="6600" b="1" kern="1200" cap="all" spc="200" baseline="0" dirty="0">
                <a:solidFill>
                  <a:schemeClr val="tx1"/>
                </a:solidFill>
                <a:latin typeface="+mj-lt"/>
                <a:ea typeface="+mj-ea"/>
                <a:cs typeface="+mj-cs"/>
              </a:rPr>
              <a:t>Thank You</a:t>
            </a:r>
          </a:p>
        </p:txBody>
      </p:sp>
      <p:cxnSp>
        <p:nvCxnSpPr>
          <p:cNvPr id="20" name="Straight Connector 19">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05775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231547-F69E-41A9-93A9-B70B5E3064F1}">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7A7C301-87CC-4EB1-AF40-15075522FC58}">
  <ds:schemaRefs>
    <ds:schemaRef ds:uri="http://schemas.microsoft.com/sharepoint/v3/contenttype/forms"/>
  </ds:schemaRefs>
</ds:datastoreItem>
</file>

<file path=customXml/itemProps3.xml><?xml version="1.0" encoding="utf-8"?>
<ds:datastoreItem xmlns:ds="http://schemas.openxmlformats.org/officeDocument/2006/customXml" ds:itemID="{6EA402E5-52EF-430B-8CCB-B4AAA8C467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1542</TotalTime>
  <Words>2461</Words>
  <Application>Microsoft Office PowerPoint</Application>
  <PresentationFormat>Widescreen</PresentationFormat>
  <Paragraphs>267</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Tw Cen MT</vt:lpstr>
      <vt:lpstr>Tw Cen MT Condensed</vt:lpstr>
      <vt:lpstr>Wingdings</vt:lpstr>
      <vt:lpstr>Wingdings 3</vt:lpstr>
      <vt:lpstr>Integral</vt:lpstr>
      <vt:lpstr>Global Coffee Health Advanced Visualization</vt:lpstr>
      <vt:lpstr>PowerPoint Presentation</vt:lpstr>
      <vt:lpstr>Dataset Overview</vt:lpstr>
      <vt:lpstr>Dataset Overview</vt:lpstr>
      <vt:lpstr>Data Visualization Age Group and Health Issues vs  Caffeine Intake (Mg)</vt:lpstr>
      <vt:lpstr>Data Visualization Age Group and Health Issues vs Caffeine Intake (Mg)</vt:lpstr>
      <vt:lpstr>Forming the Age group</vt:lpstr>
      <vt:lpstr>Data Visualization Age Group and Health Issues vs Caffeine Intake (Mg)</vt:lpstr>
      <vt:lpstr>Data Visualization Average Caffeine Intake (Mg) by Country</vt:lpstr>
      <vt:lpstr>Involved Countries</vt:lpstr>
      <vt:lpstr>Exploring the World Map’s JSON File</vt:lpstr>
      <vt:lpstr>Determine the color based on Ranking</vt:lpstr>
      <vt:lpstr>Average Caffeine Intake (Mg) by Country Code Process</vt:lpstr>
      <vt:lpstr>Data Visualization Average Caffeine Intake (Mg) by Country</vt:lpstr>
      <vt:lpstr>Prepare to Publish</vt:lpstr>
      <vt:lpstr>Analysis</vt:lpstr>
      <vt:lpstr>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Jelo Ramirez</dc:creator>
  <cp:lastModifiedBy>Jelo Ramirez</cp:lastModifiedBy>
  <cp:revision>1</cp:revision>
  <dcterms:created xsi:type="dcterms:W3CDTF">2025-08-28T22:40:05Z</dcterms:created>
  <dcterms:modified xsi:type="dcterms:W3CDTF">2025-11-16T02:52:52Z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